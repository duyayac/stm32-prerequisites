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1357CC-E0CC-A70E-907F-4BCC4E554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50D0C6-9BBB-D71E-70BA-FEA60311C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30F7C9-CE0C-5488-AE15-65F5F4AD6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226E-98E4-4CEE-8989-AAA659FCE736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647436-98AA-101F-CAB5-1DD04E03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7E46AD-3550-AC65-FFB4-6B7DF7BE5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7FA6-B78B-4F5C-9259-A34BCE4DE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106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527E5-487A-17B7-BCEE-21DB8D13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A69895-4C93-7034-88D0-236B6E796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260D9C-1798-7EA5-BB5E-6338856AE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226E-98E4-4CEE-8989-AAA659FCE736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AF30C8-8D3C-9589-047C-87BAC3D1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18B50E-2253-8685-52E2-FD2049C0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7FA6-B78B-4F5C-9259-A34BCE4DE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45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7E6CB-C145-7028-80A1-448A64E1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2ED0FE-AA5C-A750-2651-5D22E13D1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17A1E1-8236-101E-93CF-9C7E57671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226E-98E4-4CEE-8989-AAA659FCE736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37F7F7-5E30-780E-0A82-D3301DB82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C91BBC-048C-94AE-DE2F-722CE3C50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7FA6-B78B-4F5C-9259-A34BCE4DE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752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0DF80-AB2F-2112-14FF-083D1401F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6F6167-12E4-B035-EC93-60EC3DFF1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F32D93-73A4-5FDE-13E8-7479D3A25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4A1A5D-AD85-8648-1E0B-D16C9AB39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226E-98E4-4CEE-8989-AAA659FCE736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8631AE-2643-00C1-AC91-60E28D4FA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56BA4F-27D5-4541-1418-4A2CB38C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7FA6-B78B-4F5C-9259-A34BCE4DE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97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D43EA-32B7-C352-2BF7-9B2B4D3F4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BA189F-DDF6-9910-1E9D-574A28F29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DBF8D-6C3F-D52C-F3F0-928CCC357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50E979-A7BC-6362-35D1-6D8FA68B4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97D9CF-2098-10AE-2595-C9BF286A7D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044655-7C23-CC93-6989-ED36C4031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226E-98E4-4CEE-8989-AAA659FCE736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052A43-0732-66BA-615F-D4BDE3ED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0D673A-94BD-5576-3088-5F6DAA80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7FA6-B78B-4F5C-9259-A34BCE4DE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90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FEFA4-C762-3C34-5F19-DA7D6B610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9B7C1F-1BB8-BB52-681B-B9DEF95B5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226E-98E4-4CEE-8989-AAA659FCE736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C0B200-0CF4-6BAB-B4A9-C0F4C959E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371F09-D6C2-DDC1-686E-1E49D449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7FA6-B78B-4F5C-9259-A34BCE4DE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42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64B6D8-9D24-527B-E9C6-5F16CEAA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226E-98E4-4CEE-8989-AAA659FCE736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E49FEA-CFCD-067D-5760-D4A422EA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B8EA6E-BD1E-691F-84C7-5EA565B48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7FA6-B78B-4F5C-9259-A34BCE4DE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55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C88AE-CBBC-EBA2-65C7-448907212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AFA7CF-082F-C65E-0F2B-98DC120FE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D2BD0C-7439-B880-EDFC-CAAED82A8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A3EE06-CB26-56EB-CF2A-9B1A0FA76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226E-98E4-4CEE-8989-AAA659FCE736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044799-1E2A-AF56-40B8-F21E3097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4C8C57-DC4D-2C27-A781-27BEB515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7FA6-B78B-4F5C-9259-A34BCE4DE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17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CBB73-085A-6F0F-0801-B5ACA167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0C6798-5115-F6F7-5568-47B491918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0FB84F-9397-D2F2-99DB-F0EF399D3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C85769-5A6D-DEE6-D0EA-3CB5E9EF4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226E-98E4-4CEE-8989-AAA659FCE736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54270D-6A0D-9D29-DF23-5F90F0FF7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5CEE56-9029-46B7-D83B-A9E3CDAB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7FA6-B78B-4F5C-9259-A34BCE4DE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16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93287-48C6-028E-96CA-13920B76B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56A08D-BFEF-210D-AEB9-4EB218D7A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04DBFC-EF0D-6179-B6CD-04DCB528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226E-98E4-4CEE-8989-AAA659FCE736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762D99-864E-456F-08FD-8652589A0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7A7F7-C708-5317-F301-B81F31788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7FA6-B78B-4F5C-9259-A34BCE4DE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970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039E5AB-4A15-6CFB-CFB0-A6243522E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780152-27EE-5E28-3B93-B8F35F506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631365-5B0D-19B7-20FB-F2619878E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226E-98E4-4CEE-8989-AAA659FCE736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9F0BC3-17DB-A990-B53B-8B556626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2C3CFD-5173-C48F-8640-E1ED801FE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F7FA6-B78B-4F5C-9259-A34BCE4DE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46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9ED00DA-26DA-A532-52EE-97DF952B9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B66250-C400-798A-4428-98AB1DF28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0AAAF1-F76B-0030-C876-1A4CEF7116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2226E-98E4-4CEE-8989-AAA659FCE736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E80C3A-3EE5-5989-06E4-FA38A632F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7318F6-EB0A-B2AC-BEFC-B4DFCB205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F7FA6-B78B-4F5C-9259-A34BCE4DE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96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01BA8-89EB-3671-7EC4-C8AB8488F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3075"/>
            <a:ext cx="9144000" cy="2387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GTIIT-</a:t>
            </a:r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KongFu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战队</a:t>
            </a:r>
            <a:b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电控组</a:t>
            </a:r>
            <a:b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语言培训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6B6C6C-6E74-62A0-C997-BD3973855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59408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89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169B7-9BDF-F88E-A9F0-DBBAD7DD8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培训内容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EAE1-578D-6ABB-0053-D860B597A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数据类型（整数类型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&amp;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浮点类型）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变量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运算符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流程控制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5D621-787C-D2AF-981D-548016A44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数据结构 </a:t>
            </a:r>
            <a:r>
              <a:rPr lang="en-US" altLang="zh-CN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字节（</a:t>
            </a:r>
            <a:r>
              <a:rPr lang="en-US" altLang="zh-CN" sz="2000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Byte</a:t>
            </a:r>
            <a:r>
              <a:rPr lang="zh-CN" altLang="en-US" sz="2000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=8</a:t>
            </a:r>
            <a:r>
              <a:rPr lang="zh-CN" altLang="en-US" sz="2000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位（</a:t>
            </a:r>
            <a:r>
              <a:rPr lang="en-US" altLang="zh-CN" sz="2000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bit</a:t>
            </a:r>
            <a:r>
              <a:rPr lang="zh-CN" altLang="en-US" sz="2000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ADED4B-7E52-0F24-4963-4F82AF05A5DE}"/>
              </a:ext>
            </a:extLst>
          </p:cNvPr>
          <p:cNvSpPr txBox="1"/>
          <p:nvPr/>
        </p:nvSpPr>
        <p:spPr>
          <a:xfrm>
            <a:off x="0" y="1325563"/>
            <a:ext cx="975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整数类型：</a:t>
            </a:r>
            <a:endParaRPr lang="en-US" altLang="zh-CN" sz="2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zh-CN" altLang="en-US" sz="2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0A36BD7-A72D-B98F-411D-934DAC208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635610"/>
              </p:ext>
            </p:extLst>
          </p:nvPr>
        </p:nvGraphicFramePr>
        <p:xfrm>
          <a:off x="107950" y="1679506"/>
          <a:ext cx="1016952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842">
                  <a:extLst>
                    <a:ext uri="{9D8B030D-6E8A-4147-A177-3AD203B41FA5}">
                      <a16:colId xmlns:a16="http://schemas.microsoft.com/office/drawing/2014/main" val="598254117"/>
                    </a:ext>
                  </a:extLst>
                </a:gridCol>
                <a:gridCol w="3389842">
                  <a:extLst>
                    <a:ext uri="{9D8B030D-6E8A-4147-A177-3AD203B41FA5}">
                      <a16:colId xmlns:a16="http://schemas.microsoft.com/office/drawing/2014/main" val="498818495"/>
                    </a:ext>
                  </a:extLst>
                </a:gridCol>
                <a:gridCol w="3389842">
                  <a:extLst>
                    <a:ext uri="{9D8B030D-6E8A-4147-A177-3AD203B41FA5}">
                      <a16:colId xmlns:a16="http://schemas.microsoft.com/office/drawing/2014/main" val="2513120715"/>
                    </a:ext>
                  </a:extLst>
                </a:gridCol>
              </a:tblGrid>
              <a:tr h="3478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类型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存储大小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取值范围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69154"/>
                  </a:ext>
                </a:extLst>
              </a:tr>
              <a:tr h="34789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uint8_t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Byte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bit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0~255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39679"/>
                  </a:ext>
                </a:extLst>
              </a:tr>
              <a:tr h="34789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int8_t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Byte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bit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-128~127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853226"/>
                  </a:ext>
                </a:extLst>
              </a:tr>
              <a:tr h="34789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uint16_t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Byte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bit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0~65535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654066"/>
                  </a:ext>
                </a:extLst>
              </a:tr>
              <a:tr h="34789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int16_t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Byte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bit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-32768~32767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660445"/>
                  </a:ext>
                </a:extLst>
              </a:tr>
              <a:tr h="34789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uint32_t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Byte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bit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0~4294967295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65806"/>
                  </a:ext>
                </a:extLst>
              </a:tr>
              <a:tr h="34789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int32_t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Byte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bit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2,147,483,648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zh-CN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2,147,483,647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8379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72A52BC-578D-1B8B-704E-B273B8617E46}"/>
                  </a:ext>
                </a:extLst>
              </p:cNvPr>
              <p:cNvSpPr txBox="1"/>
              <p:nvPr/>
            </p:nvSpPr>
            <p:spPr>
              <a:xfrm>
                <a:off x="50800" y="4362887"/>
                <a:ext cx="105156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00B0F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计算方式：排列组合（数据在内存中存储</a:t>
                </a:r>
                <a:r>
                  <a:rPr lang="en-US" altLang="zh-CN" dirty="0">
                    <a:solidFill>
                      <a:srgbClr val="00B0F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n</a:t>
                </a:r>
                <a:r>
                  <a:rPr lang="zh-CN" altLang="en-US" dirty="0">
                    <a:solidFill>
                      <a:srgbClr val="00B0F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位，每一位都有</a:t>
                </a:r>
                <a:r>
                  <a:rPr lang="en-US" altLang="zh-CN" dirty="0">
                    <a:solidFill>
                      <a:srgbClr val="00B0F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0</a:t>
                </a:r>
                <a:r>
                  <a:rPr lang="zh-CN" altLang="en-US" dirty="0">
                    <a:solidFill>
                      <a:srgbClr val="00B0F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或</a:t>
                </a:r>
                <a:r>
                  <a:rPr lang="en-US" altLang="zh-CN" dirty="0">
                    <a:solidFill>
                      <a:srgbClr val="00B0F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1</a:t>
                </a:r>
                <a:r>
                  <a:rPr lang="zh-CN" altLang="en-US" dirty="0">
                    <a:solidFill>
                      <a:srgbClr val="00B0F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两种值）</a:t>
                </a:r>
                <a:endParaRPr lang="en-US" altLang="zh-CN" dirty="0">
                  <a:solidFill>
                    <a:srgbClr val="00B0F0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endParaRPr>
              </a:p>
              <a:p>
                <a:r>
                  <a:rPr lang="zh-CN" altLang="en-US" dirty="0">
                    <a:solidFill>
                      <a:srgbClr val="00B0F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无符号类型：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0~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zh-CN" dirty="0">
                  <a:solidFill>
                    <a:srgbClr val="00B0F0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endParaRPr>
              </a:p>
              <a:p>
                <a:r>
                  <a:rPr lang="zh-CN" altLang="en-US" dirty="0">
                    <a:solidFill>
                      <a:srgbClr val="00B0F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有符号类型：最大值</a:t>
                </a:r>
                <a:r>
                  <a:rPr lang="en-US" altLang="zh-CN" dirty="0">
                    <a:solidFill>
                      <a:srgbClr val="00B0F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−1 </m:t>
                    </m:r>
                    <m:r>
                      <a:rPr lang="zh-CN" alt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r>
                  <a:rPr lang="zh-CN" altLang="en-US" dirty="0">
                    <a:solidFill>
                      <a:srgbClr val="00B0F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最小值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→−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zh-CN" altLang="en-US" dirty="0">
                  <a:solidFill>
                    <a:srgbClr val="00B0F0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72A52BC-578D-1B8B-704E-B273B8617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" y="4362887"/>
                <a:ext cx="10515600" cy="923330"/>
              </a:xfrm>
              <a:prstGeom prst="rect">
                <a:avLst/>
              </a:prstGeom>
              <a:blipFill>
                <a:blip r:embed="rId2"/>
                <a:stretch>
                  <a:fillRect l="-464" t="-3311" b="-10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883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D3A67-DAE3-CE52-29C2-34C58E248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数据结构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093366-083F-173E-B1BE-FFA70760B936}"/>
              </a:ext>
            </a:extLst>
          </p:cNvPr>
          <p:cNvSpPr txBox="1"/>
          <p:nvPr/>
        </p:nvSpPr>
        <p:spPr>
          <a:xfrm>
            <a:off x="0" y="1325563"/>
            <a:ext cx="9763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浮点类型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BFEBA7CA-2116-4F79-19A6-BD8045A3E3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4757875"/>
                  </p:ext>
                </p:extLst>
              </p:nvPr>
            </p:nvGraphicFramePr>
            <p:xfrm>
              <a:off x="79375" y="1725673"/>
              <a:ext cx="1109345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18690">
                      <a:extLst>
                        <a:ext uri="{9D8B030D-6E8A-4147-A177-3AD203B41FA5}">
                          <a16:colId xmlns:a16="http://schemas.microsoft.com/office/drawing/2014/main" val="3025190828"/>
                        </a:ext>
                      </a:extLst>
                    </a:gridCol>
                    <a:gridCol w="2218690">
                      <a:extLst>
                        <a:ext uri="{9D8B030D-6E8A-4147-A177-3AD203B41FA5}">
                          <a16:colId xmlns:a16="http://schemas.microsoft.com/office/drawing/2014/main" val="493904537"/>
                        </a:ext>
                      </a:extLst>
                    </a:gridCol>
                    <a:gridCol w="6656070">
                      <a:extLst>
                        <a:ext uri="{9D8B030D-6E8A-4147-A177-3AD203B41FA5}">
                          <a16:colId xmlns:a16="http://schemas.microsoft.com/office/drawing/2014/main" val="7319293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类型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存储大小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取值范围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5661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float</a:t>
                          </a:r>
                          <a:endParaRPr lang="zh-CN" altLang="en-US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 Byte</a:t>
                          </a:r>
                          <a:r>
                            <a:rPr lang="zh-CN" altLang="en-US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（</a:t>
                          </a:r>
                          <a:r>
                            <a:rPr lang="en-US" altLang="zh-CN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 bit</a:t>
                          </a:r>
                          <a:r>
                            <a:rPr lang="zh-CN" altLang="en-US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）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−3.4028235×</m:t>
                                    </m:r>
                                    <m:sSup>
                                      <m:sSupPr>
                                        <m:ctrlP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38</m:t>
                                        </m:r>
                                      </m:sup>
                                    </m:sSup>
                                    <m:r>
                                      <a:rPr lang="en-US" altLang="zh-CN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,−1.4012985×</m:t>
                                    </m:r>
                                    <m:sSup>
                                      <m:sSupPr>
                                        <m:ctrlP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−45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altLang="zh-CN" sz="12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∪[±0]∪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1.4012985×</m:t>
                                    </m:r>
                                    <m:sSup>
                                      <m:sSupPr>
                                        <m:ctrlP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−45</m:t>
                                        </m:r>
                                      </m:sup>
                                    </m:sSup>
                                    <m:r>
                                      <a:rPr lang="en-US" altLang="zh-CN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3.4028235×</m:t>
                                    </m:r>
                                    <m:sSup>
                                      <m:sSupPr>
                                        <m:ctrlP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38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39211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double</a:t>
                          </a:r>
                          <a:endParaRPr lang="zh-CN" altLang="en-US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 Byte</a:t>
                          </a:r>
                          <a:r>
                            <a:rPr lang="zh-CN" altLang="en-US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（</a:t>
                          </a:r>
                          <a:r>
                            <a:rPr lang="en-US" altLang="zh-CN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 bit</a:t>
                          </a:r>
                          <a:r>
                            <a:rPr lang="zh-CN" altLang="en-US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）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−1.7976931×</m:t>
                                    </m:r>
                                    <m:sSup>
                                      <m:sSupPr>
                                        <m:ctrlP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308</m:t>
                                        </m:r>
                                      </m:sup>
                                    </m:sSup>
                                    <m:r>
                                      <a:rPr lang="en-US" altLang="zh-CN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,−4.9406565×</m:t>
                                    </m:r>
                                    <m:sSup>
                                      <m:sSupPr>
                                        <m:ctrlP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−324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altLang="zh-CN" sz="12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∪[±0]∪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4.9406565×</m:t>
                                    </m:r>
                                    <m:sSup>
                                      <m:sSupPr>
                                        <m:ctrlP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−324</m:t>
                                        </m:r>
                                      </m:sup>
                                    </m:sSup>
                                    <m:r>
                                      <a:rPr lang="en-US" altLang="zh-CN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,1.7976931×</m:t>
                                    </m:r>
                                    <m:sSup>
                                      <m:sSupPr>
                                        <m:ctrlP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altLang="zh-CN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308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043480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BFEBA7CA-2116-4F79-19A6-BD8045A3E3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4757875"/>
                  </p:ext>
                </p:extLst>
              </p:nvPr>
            </p:nvGraphicFramePr>
            <p:xfrm>
              <a:off x="79375" y="1725673"/>
              <a:ext cx="1109345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18690">
                      <a:extLst>
                        <a:ext uri="{9D8B030D-6E8A-4147-A177-3AD203B41FA5}">
                          <a16:colId xmlns:a16="http://schemas.microsoft.com/office/drawing/2014/main" val="3025190828"/>
                        </a:ext>
                      </a:extLst>
                    </a:gridCol>
                    <a:gridCol w="2218690">
                      <a:extLst>
                        <a:ext uri="{9D8B030D-6E8A-4147-A177-3AD203B41FA5}">
                          <a16:colId xmlns:a16="http://schemas.microsoft.com/office/drawing/2014/main" val="493904537"/>
                        </a:ext>
                      </a:extLst>
                    </a:gridCol>
                    <a:gridCol w="6656070">
                      <a:extLst>
                        <a:ext uri="{9D8B030D-6E8A-4147-A177-3AD203B41FA5}">
                          <a16:colId xmlns:a16="http://schemas.microsoft.com/office/drawing/2014/main" val="7319293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类型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存储大小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取值范围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5661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float</a:t>
                          </a:r>
                          <a:endParaRPr lang="zh-CN" altLang="en-US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 Byte</a:t>
                          </a:r>
                          <a:r>
                            <a:rPr lang="zh-CN" altLang="en-US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（</a:t>
                          </a:r>
                          <a:r>
                            <a:rPr lang="en-US" altLang="zh-CN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 bit</a:t>
                          </a:r>
                          <a:r>
                            <a:rPr lang="zh-CN" altLang="en-US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）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850" t="-106557" r="-183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39211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double</a:t>
                          </a:r>
                          <a:endParaRPr lang="zh-CN" altLang="en-US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 Byte</a:t>
                          </a:r>
                          <a:r>
                            <a:rPr lang="zh-CN" altLang="en-US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（</a:t>
                          </a:r>
                          <a:r>
                            <a:rPr lang="en-US" altLang="zh-CN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 bit</a:t>
                          </a:r>
                          <a:r>
                            <a:rPr lang="zh-CN" altLang="en-US" dirty="0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）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850" t="-206557" r="-183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43480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DE04DB1B-89E9-5CFE-D296-DCDFA14F6467}"/>
              </a:ext>
            </a:extLst>
          </p:cNvPr>
          <p:cNvSpPr txBox="1"/>
          <p:nvPr/>
        </p:nvSpPr>
        <p:spPr>
          <a:xfrm>
            <a:off x="79375" y="3086100"/>
            <a:ext cx="110934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单精度浮点数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6~7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位有效数字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double</a:t>
            </a:r>
            <a:r>
              <a:rPr lang="zh-CN" altLang="en-US" dirty="0"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华文仿宋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  <a:cs typeface="Times New Roman" panose="02020603050405020304" pitchFamily="18" charset="0"/>
              </a:rPr>
              <a:t>双精度浮点数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  <a:cs typeface="Times New Roman" panose="02020603050405020304" pitchFamily="18" charset="0"/>
              </a:rPr>
              <a:t>15~16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  <a:cs typeface="Times New Roman" panose="02020603050405020304" pitchFamily="18" charset="0"/>
              </a:rPr>
              <a:t>位有效数字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7F8926-D07B-DCBB-B79F-1D1EEC91070F}"/>
              </a:ext>
            </a:extLst>
          </p:cNvPr>
          <p:cNvSpPr txBox="1"/>
          <p:nvPr/>
        </p:nvSpPr>
        <p:spPr>
          <a:xfrm>
            <a:off x="79375" y="5365332"/>
            <a:ext cx="6353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其他数据结构：</a:t>
            </a:r>
            <a:endParaRPr lang="en-US" altLang="zh-CN" dirty="0"/>
          </a:p>
          <a:p>
            <a:r>
              <a:rPr lang="zh-CN" altLang="en-US" dirty="0">
                <a:solidFill>
                  <a:srgbClr val="00B050"/>
                </a:solidFill>
              </a:rPr>
              <a:t>枚举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B050"/>
                </a:solidFill>
              </a:rPr>
              <a:t>数组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B050"/>
                </a:solidFill>
              </a:rPr>
              <a:t>结构体</a:t>
            </a:r>
            <a:r>
              <a:rPr lang="zh-CN" altLang="en-US" dirty="0"/>
              <a:t>，共用体，</a:t>
            </a:r>
            <a:r>
              <a:rPr lang="zh-CN" altLang="en-US" dirty="0">
                <a:solidFill>
                  <a:srgbClr val="00B050"/>
                </a:solidFill>
              </a:rPr>
              <a:t>指针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B050"/>
                </a:solidFill>
              </a:rPr>
              <a:t>空类型</a:t>
            </a:r>
            <a:r>
              <a:rPr lang="zh-CN" altLang="en-US" dirty="0"/>
              <a:t>，布尔类型</a:t>
            </a:r>
            <a:endParaRPr lang="en-US" altLang="zh-CN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8465EEF-E170-5C45-4AC7-35D8EF1CC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922" y="3086100"/>
            <a:ext cx="5230749" cy="101147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F69897E-E27C-003D-57AA-171F91266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922" y="4163817"/>
            <a:ext cx="5230749" cy="130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9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E3EA17-62FE-692F-D3A0-B5DB1656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变量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3A9E23-3988-9EF8-0D79-BB68412EF98A}"/>
              </a:ext>
            </a:extLst>
          </p:cNvPr>
          <p:cNvSpPr txBox="1"/>
          <p:nvPr/>
        </p:nvSpPr>
        <p:spPr>
          <a:xfrm>
            <a:off x="0" y="1053324"/>
            <a:ext cx="11715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变量：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内存里一块有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名字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、有大小、有当前值的位置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，并且这个值可以被改变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为什么有名字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：内存里只有</a:t>
            </a:r>
            <a:r>
              <a:rPr lang="zh-CN" altLang="en-US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地址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（十六位），</a:t>
            </a:r>
            <a:r>
              <a:rPr lang="zh-CN" altLang="en-US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名字是在</a:t>
            </a:r>
            <a:r>
              <a:rPr lang="en-US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IDE</a:t>
            </a:r>
            <a:r>
              <a:rPr lang="zh-CN" altLang="en-US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给开发者看的</a:t>
            </a:r>
            <a:endParaRPr lang="en-US" altLang="zh-CN" dirty="0">
              <a:solidFill>
                <a:srgbClr val="FF000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en-US" altLang="zh-CN" b="1" dirty="0">
              <a:solidFill>
                <a:srgbClr val="FF000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变量定义</a:t>
            </a:r>
            <a:r>
              <a:rPr lang="zh-CN" altLang="en-US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指定一个数据类型，并包含了该类型的一个或多个变量的列表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如何定义：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type </a:t>
            </a:r>
            <a:r>
              <a:rPr lang="en-US" altLang="zh-CN" dirty="0" err="1"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variable_list</a:t>
            </a:r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E5C007-08C3-20A9-CE61-3E862521F954}"/>
              </a:ext>
            </a:extLst>
          </p:cNvPr>
          <p:cNvSpPr txBox="1"/>
          <p:nvPr/>
        </p:nvSpPr>
        <p:spPr>
          <a:xfrm>
            <a:off x="0" y="2887878"/>
            <a:ext cx="1150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变量初始化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variable_name = value;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Times New Roman" panose="02020603050405020304" pitchFamily="18" charset="0"/>
              </a:rPr>
              <a:t>如果定义变量的时候不进行初始化，编译器会自动将变量的值初始化为 </a:t>
            </a:r>
            <a:r>
              <a:rPr lang="en-US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Times New Roman" panose="02020603050405020304" pitchFamily="18" charset="0"/>
              </a:rPr>
              <a:t>0/NULL/</a:t>
            </a:r>
            <a:r>
              <a:rPr lang="zh-CN" altLang="en-US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Times New Roman" panose="02020603050405020304" pitchFamily="18" charset="0"/>
              </a:rPr>
              <a:t>空字符串（仅针对全局变量）</a:t>
            </a:r>
            <a:endParaRPr lang="zh-CN" altLang="zh-CN" dirty="0">
              <a:solidFill>
                <a:srgbClr val="FF0000"/>
              </a:solidFill>
              <a:latin typeface="华文仿宋" panose="02010600040101010101" pitchFamily="2" charset="-122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98F9B99-C96A-EE59-18F6-B65AEDA75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555" y="2535411"/>
            <a:ext cx="1714739" cy="34294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C07B926-7A37-73BA-418B-58252F93B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813" y="3316574"/>
            <a:ext cx="1781424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3BB57-BD10-E26E-A677-13A520493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常量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F09953-3B51-65FB-549D-00C43B974934}"/>
              </a:ext>
            </a:extLst>
          </p:cNvPr>
          <p:cNvSpPr txBox="1"/>
          <p:nvPr/>
        </p:nvSpPr>
        <p:spPr>
          <a:xfrm>
            <a:off x="0" y="1020652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常量：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常量是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固定值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，在程序执行期间不会改变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。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常量可以是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任何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的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基本数据类型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，比如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整数常量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、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浮点常量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、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字符常量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，或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字符串字面值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，也有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枚举常量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。</a:t>
            </a:r>
            <a:endParaRPr lang="zh-CN" alt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9DAA834-CC72-C4A8-6114-321A3F020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1493642"/>
            <a:ext cx="2918784" cy="132556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1E3F67A-2E73-4DC9-3FE4-ABC2252B83FF}"/>
              </a:ext>
            </a:extLst>
          </p:cNvPr>
          <p:cNvSpPr txBox="1"/>
          <p:nvPr/>
        </p:nvSpPr>
        <p:spPr>
          <a:xfrm>
            <a:off x="0" y="1666983"/>
            <a:ext cx="12115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常量定义：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宏定义： </a:t>
            </a:r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#define 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常量名 常量值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关键字： </a:t>
            </a:r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const type 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常量名 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= 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常量值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42900" indent="-342900">
              <a:buAutoNum type="arabicPeriod"/>
            </a:pP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42900" indent="-342900">
              <a:buAutoNum type="arabicPeriod"/>
            </a:pP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42900" indent="-342900">
              <a:buAutoNum type="arabicPeriod"/>
            </a:pP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#define 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与 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const 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这两种方式都可以用来定义常量，选择哪种方式取决于具体的需求和编程习惯。建议使用 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const 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关键字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#define 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预处理指令和 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const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关键字在定义常量时有一些</a:t>
            </a:r>
            <a:r>
              <a:rPr lang="zh-CN" altLang="zh-CN" dirty="0">
                <a:solidFill>
                  <a:srgbClr val="00B05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区别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</a:p>
          <a:p>
            <a:pPr latinLnBrk="1"/>
            <a:r>
              <a:rPr lang="zh-CN" altLang="zh-CN" dirty="0">
                <a:solidFill>
                  <a:srgbClr val="0070C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替换机制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#define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是进行简单的文本替换，而 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const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是声明一个具有类型的常量。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#define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定义的常量在编译时会被直接替换为其对应的值，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不具备符号信息。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const 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定义的常量在程序运行时会分配内存，具有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符号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信息。使用 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#define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定义的常量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调试不可见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。使用 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const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定义的常量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调试可见</a:t>
            </a:r>
            <a:endParaRPr lang="zh-CN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0" latinLnBrk="1"/>
            <a:r>
              <a:rPr lang="zh-CN" altLang="zh-CN" dirty="0">
                <a:solidFill>
                  <a:srgbClr val="0070C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类型检查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#define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不进行类型检查，只进行简单的文本替换。而 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const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定义的常量具有类型信息，编译器可以对其进行类型检查。</a:t>
            </a:r>
          </a:p>
          <a:p>
            <a:pPr lvl="0" latinLnBrk="1"/>
            <a:r>
              <a:rPr lang="zh-CN" altLang="zh-CN" dirty="0">
                <a:solidFill>
                  <a:srgbClr val="0070C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作用域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#define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定义的常量没有作用域限制，它在定义之后的整个代码中都有效。而 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const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定义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的常量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只在其定义所在的作用域内有效。</a:t>
            </a:r>
          </a:p>
        </p:txBody>
      </p:sp>
    </p:spTree>
    <p:extLst>
      <p:ext uri="{BB962C8B-B14F-4D97-AF65-F5344CB8AC3E}">
        <p14:creationId xmlns:p14="http://schemas.microsoft.com/office/powerpoint/2010/main" val="1219746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E2855D-9FA7-4B3E-0FB4-EA5F182CD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11839575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运算符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4ED8283-6B38-7110-5005-06B7E9AFE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431179"/>
              </p:ext>
            </p:extLst>
          </p:nvPr>
        </p:nvGraphicFramePr>
        <p:xfrm>
          <a:off x="92360" y="996370"/>
          <a:ext cx="52689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796">
                  <a:extLst>
                    <a:ext uri="{9D8B030D-6E8A-4147-A177-3AD203B41FA5}">
                      <a16:colId xmlns:a16="http://schemas.microsoft.com/office/drawing/2014/main" val="4024015539"/>
                    </a:ext>
                  </a:extLst>
                </a:gridCol>
                <a:gridCol w="1973179">
                  <a:extLst>
                    <a:ext uri="{9D8B030D-6E8A-4147-A177-3AD203B41FA5}">
                      <a16:colId xmlns:a16="http://schemas.microsoft.com/office/drawing/2014/main" val="2538488926"/>
                    </a:ext>
                  </a:extLst>
                </a:gridCol>
                <a:gridCol w="1491916">
                  <a:extLst>
                    <a:ext uri="{9D8B030D-6E8A-4147-A177-3AD203B41FA5}">
                      <a16:colId xmlns:a16="http://schemas.microsoft.com/office/drawing/2014/main" val="631602523"/>
                    </a:ext>
                  </a:extLst>
                </a:gridCol>
                <a:gridCol w="770021">
                  <a:extLst>
                    <a:ext uri="{9D8B030D-6E8A-4147-A177-3AD203B41FA5}">
                      <a16:colId xmlns:a16="http://schemas.microsoft.com/office/drawing/2014/main" val="4201903707"/>
                    </a:ext>
                  </a:extLst>
                </a:gridCol>
              </a:tblGrid>
              <a:tr h="2419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算数运算符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举例（</a:t>
                      </a:r>
                      <a:r>
                        <a:rPr lang="en-US" altLang="zh-CN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A=10</a:t>
                      </a:r>
                      <a:r>
                        <a:rPr lang="zh-CN" altLang="en-US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B=20</a:t>
                      </a:r>
                      <a:r>
                        <a:rPr lang="zh-CN" altLang="en-US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656895"/>
                  </a:ext>
                </a:extLst>
              </a:tr>
              <a:tr h="2419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+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两个数相加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A+B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30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210555"/>
                  </a:ext>
                </a:extLst>
              </a:tr>
              <a:tr h="2419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-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从</a:t>
                      </a:r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</a:t>
                      </a:r>
                      <a:r>
                        <a:rPr lang="zh-CN" altLang="en-US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减去</a:t>
                      </a:r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B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A-B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-10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992080"/>
                  </a:ext>
                </a:extLst>
              </a:tr>
              <a:tr h="2419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*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两个数相乘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A*B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200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09327"/>
                  </a:ext>
                </a:extLst>
              </a:tr>
              <a:tr h="2419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/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分子除以分母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B/A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2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548104"/>
                  </a:ext>
                </a:extLst>
              </a:tr>
              <a:tr h="2561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%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取模运算，整除后的余数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B%A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0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3441"/>
                  </a:ext>
                </a:extLst>
              </a:tr>
              <a:tr h="2419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++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自增运算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A++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11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53458"/>
                  </a:ext>
                </a:extLst>
              </a:tr>
              <a:tr h="2419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--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自减运算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A--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9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34675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EC79B7F-9398-5CB6-575E-37B94B2D5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87111"/>
              </p:ext>
            </p:extLst>
          </p:nvPr>
        </p:nvGraphicFramePr>
        <p:xfrm>
          <a:off x="5469492" y="411031"/>
          <a:ext cx="6472069" cy="3017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922">
                  <a:extLst>
                    <a:ext uri="{9D8B030D-6E8A-4147-A177-3AD203B41FA5}">
                      <a16:colId xmlns:a16="http://schemas.microsoft.com/office/drawing/2014/main" val="3923586102"/>
                    </a:ext>
                  </a:extLst>
                </a:gridCol>
                <a:gridCol w="3599849">
                  <a:extLst>
                    <a:ext uri="{9D8B030D-6E8A-4147-A177-3AD203B41FA5}">
                      <a16:colId xmlns:a16="http://schemas.microsoft.com/office/drawing/2014/main" val="2651773965"/>
                    </a:ext>
                  </a:extLst>
                </a:gridCol>
                <a:gridCol w="1790298">
                  <a:extLst>
                    <a:ext uri="{9D8B030D-6E8A-4147-A177-3AD203B41FA5}">
                      <a16:colId xmlns:a16="http://schemas.microsoft.com/office/drawing/2014/main" val="777286431"/>
                    </a:ext>
                  </a:extLst>
                </a:gridCol>
              </a:tblGrid>
              <a:tr h="274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关系运算符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举例（</a:t>
                      </a:r>
                      <a:r>
                        <a:rPr lang="en-US" altLang="zh-CN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A=10</a:t>
                      </a:r>
                      <a:r>
                        <a:rPr lang="zh-CN" altLang="en-US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B=20</a:t>
                      </a:r>
                      <a:r>
                        <a:rPr lang="zh-CN" altLang="en-US" sz="12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813964"/>
                  </a:ext>
                </a:extLst>
              </a:tr>
              <a:tr h="368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</a:rPr>
                        <a:t>==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检查两个操作数的值是否相等，如果相等则条件为真。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(A == B) 为假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104768"/>
                  </a:ext>
                </a:extLst>
              </a:tr>
              <a:tr h="368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</a:rPr>
                        <a:t>!=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检查两个操作数的值是否相等，如果不相等则条件为真。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(A != B) 为真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217921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</a:rPr>
                        <a:t>&gt;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检查左操作数的值是否大于右操作数的值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，</a:t>
                      </a:r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如果是则条件为真。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(A &gt; B) 为假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57959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</a:rPr>
                        <a:t>&lt;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检查左操作数的值是否小于右操作数的值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，</a:t>
                      </a:r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如果是则条件为真。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(A &lt; B) 为真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882049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</a:rPr>
                        <a:t>&gt;=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检查左操作数的值是否大于或等于右操作数的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，</a:t>
                      </a:r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如果是则条件为真。</a:t>
                      </a:r>
                      <a:endParaRPr lang="zh-CN" altLang="en-US" sz="1200" b="1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(A &gt;= B) 为假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268823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</a:rPr>
                        <a:t>&lt;=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检查左操作数的值是否小于或等于右操作数的值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，</a:t>
                      </a:r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如果是则条件为真。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(A &lt;= B) 为真</a:t>
                      </a:r>
                      <a:endParaRPr lang="zh-CN" altLang="en-US" sz="12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29554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14AF999-21B2-BF34-7F09-F8E23168E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526802"/>
              </p:ext>
            </p:extLst>
          </p:nvPr>
        </p:nvGraphicFramePr>
        <p:xfrm>
          <a:off x="148667" y="3667071"/>
          <a:ext cx="8556859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252">
                  <a:extLst>
                    <a:ext uri="{9D8B030D-6E8A-4147-A177-3AD203B41FA5}">
                      <a16:colId xmlns:a16="http://schemas.microsoft.com/office/drawing/2014/main" val="3067935586"/>
                    </a:ext>
                  </a:extLst>
                </a:gridCol>
                <a:gridCol w="4504405">
                  <a:extLst>
                    <a:ext uri="{9D8B030D-6E8A-4147-A177-3AD203B41FA5}">
                      <a16:colId xmlns:a16="http://schemas.microsoft.com/office/drawing/2014/main" val="4171069912"/>
                    </a:ext>
                  </a:extLst>
                </a:gridCol>
                <a:gridCol w="2820202">
                  <a:extLst>
                    <a:ext uri="{9D8B030D-6E8A-4147-A177-3AD203B41FA5}">
                      <a16:colId xmlns:a16="http://schemas.microsoft.com/office/drawing/2014/main" val="2548506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赋值运算符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举例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318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=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把右边操作数的值赋给左边操作数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C = A + B 将把 A + B 的值赋给 C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948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+=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把右边操作数加上左边操作数的结果赋值给左边操作数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C += A 相当于 C = C + A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456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-=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把左边操作数减去右边操作数的结果赋值给左边操作数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C -= A 相当于 C = C - A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823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*=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把右边操作数乘以左边操作数的结果赋值给左边操作数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C *= A 相当于 C = C * A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582214"/>
                  </a:ext>
                </a:extLst>
              </a:tr>
              <a:tr h="2655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ysClr val="windowText" lastClr="000000"/>
                          </a:solidFill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/=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把左边操作数除以右边操作数的结果赋值给左边操作数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C /= A 相当于 C = C / A</a:t>
                      </a:r>
                      <a:endParaRPr lang="zh-CN" altLang="en-US" sz="1400" dirty="0">
                        <a:solidFill>
                          <a:sysClr val="windowText" lastClr="000000"/>
                        </a:solidFill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132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308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86F50-FA9D-6D27-E6E3-AA78862E8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运算符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D6494E7-C971-C619-12C5-717E2D2CC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29" y="1343818"/>
            <a:ext cx="6730900" cy="51682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6E431B5-33BE-40EF-8186-F50E8F7BE4F5}"/>
              </a:ext>
            </a:extLst>
          </p:cNvPr>
          <p:cNvSpPr txBox="1"/>
          <p:nvPr/>
        </p:nvSpPr>
        <p:spPr>
          <a:xfrm>
            <a:off x="154004" y="943276"/>
            <a:ext cx="6756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优先级从上到下减小</a:t>
            </a:r>
          </a:p>
        </p:txBody>
      </p:sp>
    </p:spTree>
    <p:extLst>
      <p:ext uri="{BB962C8B-B14F-4D97-AF65-F5344CB8AC3E}">
        <p14:creationId xmlns:p14="http://schemas.microsoft.com/office/powerpoint/2010/main" val="2359383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489A5E-FC3D-BF0B-6346-28A89EB69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810198" cy="1325563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流程控制</a:t>
            </a:r>
            <a:b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br>
              <a:rPr lang="en-US" altLang="zh-CN" sz="2400" dirty="0"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zh-CN" sz="2400" dirty="0">
                <a:latin typeface="华文仿宋" panose="02010600040101010101" pitchFamily="2" charset="-122"/>
                <a:ea typeface="华文仿宋" panose="02010600040101010101" pitchFamily="2" charset="-122"/>
              </a:rPr>
              <a:t>不管多复杂的程序，只有三种结构：顺序（一句接一句）、分支（选一条路走）、循环（重复走一段）。</a:t>
            </a:r>
            <a:endParaRPr lang="zh-CN" altLang="en-US" sz="24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91AD756-BA95-0A64-0F1D-D83481027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06" y="2918609"/>
            <a:ext cx="2125538" cy="308755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6523332-443D-6199-E363-B6F00A7EF193}"/>
              </a:ext>
            </a:extLst>
          </p:cNvPr>
          <p:cNvSpPr txBox="1"/>
          <p:nvPr/>
        </p:nvSpPr>
        <p:spPr>
          <a:xfrm>
            <a:off x="231006" y="2364628"/>
            <a:ext cx="2935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判断：从上到下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075548-9164-7956-55B6-2224ED76003C}"/>
              </a:ext>
            </a:extLst>
          </p:cNvPr>
          <p:cNvSpPr txBox="1"/>
          <p:nvPr/>
        </p:nvSpPr>
        <p:spPr>
          <a:xfrm>
            <a:off x="4174958" y="2380692"/>
            <a:ext cx="2165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循环</a:t>
            </a:r>
          </a:p>
        </p:txBody>
      </p:sp>
      <p:pic>
        <p:nvPicPr>
          <p:cNvPr id="8" name="图片 7" descr="循环结构">
            <a:extLst>
              <a:ext uri="{FF2B5EF4-FFF2-40B4-BE49-F238E27FC236}">
                <a16:creationId xmlns:a16="http://schemas.microsoft.com/office/drawing/2014/main" id="{3B0216CC-CCF5-7B45-FF7C-72FE301D8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744" y="2733959"/>
            <a:ext cx="3205537" cy="341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579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1CF28-6790-1BDD-8B7C-CD6205130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流程控制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D4416C-A6A2-BDFD-D6B4-E2B4E5101A52}"/>
              </a:ext>
            </a:extLst>
          </p:cNvPr>
          <p:cNvSpPr txBox="1"/>
          <p:nvPr/>
        </p:nvSpPr>
        <p:spPr>
          <a:xfrm>
            <a:off x="211756" y="1155032"/>
            <a:ext cx="10303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“{ }”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为边界，用于告诉编译器代码块的范围，无论任何时候都要用花括号将代码块区分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判断常见问题：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917A7A7-A768-3E9D-D13A-E54B5BBFC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19" y="2044267"/>
            <a:ext cx="6230219" cy="104789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5A3C5CB-755D-F52F-7664-AB552C56DD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866" y="2044267"/>
            <a:ext cx="2231882" cy="104789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CB98A7F-3851-3CEA-61A3-CABB1497AD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19" y="3361591"/>
            <a:ext cx="7135221" cy="69542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57F48FA-7667-DB3F-62E6-E99215C3D0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19" y="4183728"/>
            <a:ext cx="5391902" cy="76210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1A23E00-F996-A23A-60D6-48E181E71F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183728"/>
            <a:ext cx="5449060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32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65594-82C3-77CE-610E-E173BCCF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5DF3C-EC53-AE02-EE8C-FBD8F571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流程控制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D6E71A-4AC3-EBB9-3A45-EBDC6606F968}"/>
              </a:ext>
            </a:extLst>
          </p:cNvPr>
          <p:cNvSpPr txBox="1"/>
          <p:nvPr/>
        </p:nvSpPr>
        <p:spPr>
          <a:xfrm>
            <a:off x="211756" y="1155032"/>
            <a:ext cx="103038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“{ }”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为边界，用于告诉编译器代码块的范围，无论任何时候都要用花括号将代码块区分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循环常见问题：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浮点数作为条件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越界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变量名相同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……</a:t>
            </a:r>
            <a:endParaRPr lang="zh-CN" alt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36C28D-6D31-A976-A0B2-41B64B02B7BF}"/>
              </a:ext>
            </a:extLst>
          </p:cNvPr>
          <p:cNvSpPr txBox="1"/>
          <p:nvPr/>
        </p:nvSpPr>
        <p:spPr>
          <a:xfrm>
            <a:off x="288757" y="3348478"/>
            <a:ext cx="11251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break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语句：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当 break 语句出现在一个循环内时，循环会立即终止，且程序流将继续执行紧接着循环的下一条语句</a:t>
            </a:r>
            <a:endParaRPr lang="zh-CN" alt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4F6788-8444-ACDD-2CFB-0272E47ED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57" y="3994809"/>
            <a:ext cx="3668940" cy="231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45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7B31B-B1A8-EC27-5B37-7A5A522CB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流程控制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758274-EAB5-11C5-7009-FB5CE8A04C8E}"/>
              </a:ext>
            </a:extLst>
          </p:cNvPr>
          <p:cNvSpPr txBox="1"/>
          <p:nvPr/>
        </p:nvSpPr>
        <p:spPr>
          <a:xfrm>
            <a:off x="250257" y="1343818"/>
            <a:ext cx="9105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continue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语句：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是强制终止，continue 会跳过当前循环中的代码，强迫开始下一次循环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。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对于 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for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循环，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continue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语句执行后自增语句仍然会执行。对于 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while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和 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do...while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循环，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continue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语句重新执行条件判断语句。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zh-CN" alt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F8E8AF-BD57-1CD7-D1CC-7DCE1B953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57" y="2430529"/>
            <a:ext cx="476250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25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1862</Words>
  <Application>Microsoft Office PowerPoint</Application>
  <PresentationFormat>宽屏</PresentationFormat>
  <Paragraphs>167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华文仿宋</vt:lpstr>
      <vt:lpstr>Arial</vt:lpstr>
      <vt:lpstr>Cambria Math</vt:lpstr>
      <vt:lpstr>Times New Roman</vt:lpstr>
      <vt:lpstr>Office 主题​​</vt:lpstr>
      <vt:lpstr>GTIIT-KongFu战队 电控组 C语言培训-1</vt:lpstr>
      <vt:lpstr>培训内容</vt:lpstr>
      <vt:lpstr>数据结构  1字节（Byte）=8位（bit）</vt:lpstr>
      <vt:lpstr>数据结构</vt:lpstr>
      <vt:lpstr>变量</vt:lpstr>
      <vt:lpstr>常量</vt:lpstr>
      <vt:lpstr>运算符</vt:lpstr>
      <vt:lpstr>运算符</vt:lpstr>
      <vt:lpstr>流程控制  不管多复杂的程序，只有三种结构：顺序（一句接一句）、分支（选一条路走）、循环（重复走一段）。</vt:lpstr>
      <vt:lpstr>流程控制</vt:lpstr>
      <vt:lpstr>流程控制</vt:lpstr>
      <vt:lpstr>流程控制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C</dc:creator>
  <cp:lastModifiedBy>MD C</cp:lastModifiedBy>
  <cp:revision>16</cp:revision>
  <dcterms:created xsi:type="dcterms:W3CDTF">2026-09-22T11:00:02Z</dcterms:created>
  <dcterms:modified xsi:type="dcterms:W3CDTF">2026-09-23T09:02:31Z</dcterms:modified>
</cp:coreProperties>
</file>