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20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F3CCD-CB97-559C-8122-63C0C45E3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E94552-A835-6362-C303-02B3C485B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A3B302-67BB-8AA5-663C-8A1B8EF4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AAA863-5F39-9085-6468-25BFDABB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0EBFBC-5972-7F37-F386-F0BB0F9C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1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8DE5B-BB21-45D2-A2A6-C8DE2E1C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7C4604-9449-795C-CCDF-3A2E369D0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223D74-68FD-A70E-F174-C6419223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FD6931-EDDB-696D-5413-2A83719A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A634CE-AE8E-5893-1D95-B2424A13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88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188ED-0C96-CCB2-8DBF-318D6BEF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57D04D-8206-2709-68D4-F6CAB5504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B3F87F-B781-883D-46D0-E8F95F53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26331-C6B9-2419-8C35-97797765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38DF3-27A7-221E-EEE0-7ABBC6CB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010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06848-FD97-1485-CE8F-02C31B0C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205EE-2FD3-B137-FE03-79E50DFBA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010B2C-D2FD-DF5A-6AB5-3763FD6B7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876F34-98E8-69C7-CE85-CABE27F1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05F27B-E32F-682D-7B73-FD9593F2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91125B-DAA6-30F8-D923-3509FAD7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848CE-DCCB-C6BC-31D6-B4C9E270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55D973-C299-76DF-96FC-E354810AA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F294C0-2D02-1DB4-C18E-EAC923540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81EF51-436B-2E9F-CC66-50321F3D4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1CCAF6-C485-64EA-622E-65D3B2B60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63B2B2-4750-50A5-81E3-88B04FCA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3EE5D6-A448-15AE-E827-8A3D28B7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37AB26-560A-FF8F-C16D-4A93C388B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97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22221-DADF-4D08-4C8A-3A907E07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2EE7A2-58A1-06C6-6853-BA03EB7D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84866A-1C68-E8E5-A258-D8D27BAE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641A04-3BE5-C59E-7DC5-B00CDFDE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47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704717-CB6B-A1DA-8545-99656B97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397D15-B128-95D2-CF42-EB5F93EA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EAA1AC-A8E0-4C07-1267-86631CDA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36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2A9BD-AE29-70A8-C909-A136B526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6642B-BD5A-6DED-F0EC-9BDAC1ABE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64F825-5A39-4120-F8E5-90C37C955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CD3CD5-A5B0-3062-4842-E3EB9739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F8E18E-BC5A-3469-8DE6-18682DEF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453112-E50A-4871-F05A-DA0CDA0A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31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11D87-930C-8D71-AC4A-58A722072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71DB88-A8BE-5F14-CEAD-06AB0C71C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863B82-5297-B538-EAA8-204CA3402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3C3DBD-3E0D-7D5B-BCEF-AEC8521D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F6DCF6-51AB-CD8D-B6AA-0EF309AF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34CBEB-420E-2FC9-ADDB-754C5188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36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4B7E3-5DF6-3DAD-9743-9ADD81E6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9261D8-D969-0097-C097-A714CB9F8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BAE35-7CBF-B786-B8FB-2672753F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6F7D1-3FCD-923A-B811-AC17228C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BA6E61-FD05-79AC-D498-BCC902EE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16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9EC48F-1A5D-23AC-FEBA-CC57DD5E5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3E4872-BD4D-CC40-FBD1-80E244292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7D508C-1B8C-333A-53C3-705082DE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08C2E0-DF72-825F-9D34-11D40E37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0D14F8-400F-ED22-F312-923A47E2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99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99FCCF-F1B2-CD21-98C9-43348545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F803C0-AEF8-A151-BD69-7A73AEADF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E7F28C-7043-F2BD-7426-728DD9924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E5755-2756-4486-A80A-1BA7F58E37CA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23BBD-D95E-B17F-5EB4-9E4111668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AE309-BACE-9888-7A32-09C77E9FA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76B3F-E2E4-40DA-8EB7-457E094C8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24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46CD5-00B5-E1B2-D4B2-832EAD77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787AF-156A-C681-87E4-062DEE9CB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3075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GTIIT-</a:t>
            </a:r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KongFu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战队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电控组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语言培训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2792D5-1038-364B-7B0F-E0F26651F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59408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69B7-9BDF-F88E-A9F0-DBBAD7DD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培训内容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EAE1-578D-6ABB-0053-D860B597A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运算符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位运算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switch case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状态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03E84-F844-C1AC-D82E-CD0F8301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运算符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53C022C-9363-C823-1AD2-79AEEEF92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857423"/>
              </p:ext>
            </p:extLst>
          </p:nvPr>
        </p:nvGraphicFramePr>
        <p:xfrm>
          <a:off x="129768" y="1343818"/>
          <a:ext cx="6636792" cy="309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7277">
                  <a:extLst>
                    <a:ext uri="{9D8B030D-6E8A-4147-A177-3AD203B41FA5}">
                      <a16:colId xmlns:a16="http://schemas.microsoft.com/office/drawing/2014/main" val="221627302"/>
                    </a:ext>
                  </a:extLst>
                </a:gridCol>
                <a:gridCol w="3100179">
                  <a:extLst>
                    <a:ext uri="{9D8B030D-6E8A-4147-A177-3AD203B41FA5}">
                      <a16:colId xmlns:a16="http://schemas.microsoft.com/office/drawing/2014/main" val="170652611"/>
                    </a:ext>
                  </a:extLst>
                </a:gridCol>
                <a:gridCol w="2049336">
                  <a:extLst>
                    <a:ext uri="{9D8B030D-6E8A-4147-A177-3AD203B41FA5}">
                      <a16:colId xmlns:a16="http://schemas.microsoft.com/office/drawing/2014/main" val="3470423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altLang="en-US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逻辑</a:t>
                      </a:r>
                      <a:r>
                        <a:rPr lang="zh-CN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运算符</a:t>
                      </a:r>
                      <a:endParaRPr lang="zh-CN" sz="1800" b="0" i="0" dirty="0">
                        <a:solidFill>
                          <a:srgbClr val="FFFFFF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描述</a:t>
                      </a:r>
                      <a:endParaRPr lang="zh-CN" sz="1800" b="0" i="0" dirty="0">
                        <a:solidFill>
                          <a:srgbClr val="FFFFFF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实例</a:t>
                      </a:r>
                      <a:endParaRPr lang="zh-CN" sz="1800" b="0" i="0" dirty="0">
                        <a:solidFill>
                          <a:srgbClr val="FFFFFF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89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&amp;&amp;</a:t>
                      </a:r>
                      <a:endParaRPr lang="zh-CN" sz="1800" b="0" i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称为逻辑与运算符。如果两个操作数都非零，则条件为真。</a:t>
                      </a:r>
                      <a:endParaRPr lang="zh-CN" sz="1800" b="0" i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(A &amp;&amp; B) 为假。</a:t>
                      </a:r>
                      <a:endParaRPr lang="zh-CN" sz="1800" b="0" i="0" dirty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506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||</a:t>
                      </a:r>
                      <a:endParaRPr lang="zh-CN" sz="1800" b="0" i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称为逻辑或运算符。如果两个操作数中有任意一个非零，则条件为真。</a:t>
                      </a:r>
                      <a:endParaRPr lang="zh-CN" sz="1800" b="0" i="0" dirty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(A || B) 为真。</a:t>
                      </a:r>
                      <a:endParaRPr lang="zh-CN" sz="1800" b="0" i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693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!</a:t>
                      </a:r>
                      <a:endParaRPr lang="zh-CN" sz="1800" b="0" i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称为逻辑非运算符。用来逆转操作数的逻辑状态。如果条件为真则逻辑非运算符将使其为假。</a:t>
                      </a:r>
                      <a:endParaRPr lang="zh-CN" sz="1800" b="0" i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sz="1800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!(A &amp;&amp; B) 为真。</a:t>
                      </a:r>
                      <a:endParaRPr lang="zh-CN" sz="1800" b="0" i="0" dirty="0"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31750" marR="31750" marT="31750" marB="44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281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84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4614-8680-8CA6-EDF3-4667C230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461CC-CEF1-0B2E-9F3A-4090434B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运算符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E9C43CE-C1EE-B508-012F-9BC31F82A8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6129865"/>
                  </p:ext>
                </p:extLst>
              </p:nvPr>
            </p:nvGraphicFramePr>
            <p:xfrm>
              <a:off x="145449" y="1046926"/>
              <a:ext cx="11132987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343">
                      <a:extLst>
                        <a:ext uri="{9D8B030D-6E8A-4147-A177-3AD203B41FA5}">
                          <a16:colId xmlns:a16="http://schemas.microsoft.com/office/drawing/2014/main" val="1848792484"/>
                        </a:ext>
                      </a:extLst>
                    </a:gridCol>
                    <a:gridCol w="7418705">
                      <a:extLst>
                        <a:ext uri="{9D8B030D-6E8A-4147-A177-3AD203B41FA5}">
                          <a16:colId xmlns:a16="http://schemas.microsoft.com/office/drawing/2014/main" val="2485598617"/>
                        </a:ext>
                      </a:extLst>
                    </a:gridCol>
                    <a:gridCol w="2338939">
                      <a:extLst>
                        <a:ext uri="{9D8B030D-6E8A-4147-A177-3AD203B41FA5}">
                          <a16:colId xmlns:a16="http://schemas.microsoft.com/office/drawing/2014/main" val="2090420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位运算符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描述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规则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01257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&amp;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对两个操作数的每一位执行逻辑与操作，如果两个相应的位都为 1，则结果为 1，否则为 0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0&amp;0=0;   0&amp;1=0;    </a:t>
                          </a:r>
                        </a:p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1&amp;0=0;   1&amp;1=1;</a:t>
                          </a:r>
                        </a:p>
                        <a:p>
                          <a:pPr algn="ctr"/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64745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|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对两个操作数的每一位执行逻辑或操作，如果两个相应的位都为 0，则结果为 0，否则为 1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0|0=0;   0|1=1;   </a:t>
                          </a:r>
                        </a:p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1|0=1;   1|1=1;</a:t>
                          </a:r>
                        </a:p>
                        <a:p>
                          <a:pPr algn="ctr"/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68864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^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对两个操作数的每一位执行逻辑异或操作，如果两个相应的位值相同，则结果为 0，否则为 1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0^0=0;   0^1=1;   </a:t>
                          </a:r>
                        </a:p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1^0=1;  </a:t>
                          </a:r>
                          <a:r>
                            <a:rPr lang="en-US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 </a:t>
                          </a:r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1^1=0;</a:t>
                          </a:r>
                        </a:p>
                        <a:p>
                          <a:pPr algn="ctr"/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74479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~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对操作数的每一位执行逻辑取反操作，即将每一位的 0 变为 1，1 变为 0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华文仿宋" panose="02010600040101010101" pitchFamily="2" charset="-122"/>
                                  </a:rPr>
                                  <m:t>略</m:t>
                                </m:r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12829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&lt;&lt;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将操作数的所有位向左移动指定的位数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略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9304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&gt;&gt;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将操作数的所有位向</a:t>
                          </a:r>
                          <a:r>
                            <a:rPr lang="zh-CN" altLang="en-US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右</a:t>
                          </a:r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移动指定的位数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略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89744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E9C43CE-C1EE-B508-012F-9BC31F82A8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6129865"/>
                  </p:ext>
                </p:extLst>
              </p:nvPr>
            </p:nvGraphicFramePr>
            <p:xfrm>
              <a:off x="145449" y="1046926"/>
              <a:ext cx="11132987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343">
                      <a:extLst>
                        <a:ext uri="{9D8B030D-6E8A-4147-A177-3AD203B41FA5}">
                          <a16:colId xmlns:a16="http://schemas.microsoft.com/office/drawing/2014/main" val="1848792484"/>
                        </a:ext>
                      </a:extLst>
                    </a:gridCol>
                    <a:gridCol w="7418705">
                      <a:extLst>
                        <a:ext uri="{9D8B030D-6E8A-4147-A177-3AD203B41FA5}">
                          <a16:colId xmlns:a16="http://schemas.microsoft.com/office/drawing/2014/main" val="2485598617"/>
                        </a:ext>
                      </a:extLst>
                    </a:gridCol>
                    <a:gridCol w="2338939">
                      <a:extLst>
                        <a:ext uri="{9D8B030D-6E8A-4147-A177-3AD203B41FA5}">
                          <a16:colId xmlns:a16="http://schemas.microsoft.com/office/drawing/2014/main" val="2090420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位运算符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描述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规则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012572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&amp;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对两个操作数的每一位执行逻辑与操作，如果两个相应的位都为 1，则结果为 1，否则为 0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0&amp;0=0;   0&amp;1=0;    </a:t>
                          </a:r>
                        </a:p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1&amp;0=0;   1&amp;1=1;</a:t>
                          </a:r>
                        </a:p>
                        <a:p>
                          <a:pPr algn="ctr"/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5647459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|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对两个操作数的每一位执行逻辑或操作，如果两个相应的位都为 0，则结果为 0，否则为 1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0|0=0;   0|1=1;   </a:t>
                          </a:r>
                        </a:p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1|0=1;   1|1=1;</a:t>
                          </a:r>
                        </a:p>
                        <a:p>
                          <a:pPr algn="ctr"/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688648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^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对两个操作数的每一位执行逻辑异或操作，如果两个相应的位值相同，则结果为 0，否则为 1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0^0=0;   0^1=1;   </a:t>
                          </a:r>
                        </a:p>
                        <a:p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1^0=1;  </a:t>
                          </a:r>
                          <a:r>
                            <a:rPr lang="en-US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 </a:t>
                          </a:r>
                          <a:r>
                            <a:rPr lang="zh-CN" altLang="zh-CN" sz="1400" b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1^1=0;</a:t>
                          </a:r>
                        </a:p>
                        <a:p>
                          <a:pPr algn="ctr"/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74479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~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对操作数的每一位执行逻辑取反操作，即将每一位的 0 变为 1，1 变为 0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6302" t="-701639" r="-521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2829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&lt;&lt;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将操作数的所有位向左移动指定的位数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略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9304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&gt;&gt;</a:t>
                          </a:r>
                          <a:endParaRPr lang="zh-CN" altLang="en-US" sz="16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将操作数的所有位向</a:t>
                          </a:r>
                          <a:r>
                            <a:rPr lang="zh-CN" altLang="en-US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右</a:t>
                          </a:r>
                          <a:r>
                            <a:rPr lang="zh-CN" altLang="zh-CN" sz="1400" b="0" i="0" kern="1200" dirty="0">
                              <a:solidFill>
                                <a:schemeClr val="dk1"/>
                              </a:solidFill>
                              <a:effectLst/>
                              <a:latin typeface="华文仿宋" panose="02010600040101010101" pitchFamily="2" charset="-122"/>
                              <a:ea typeface="华文仿宋" panose="02010600040101010101" pitchFamily="2" charset="-122"/>
                              <a:cs typeface="+mn-cs"/>
                            </a:rPr>
                            <a:t>移动指定的位数</a:t>
                          </a:r>
                          <a:endParaRPr lang="zh-CN" altLang="en-US" sz="1400" b="0" dirty="0">
                            <a:solidFill>
                              <a:sysClr val="windowText" lastClr="000000"/>
                            </a:solidFill>
                            <a:latin typeface="华文仿宋" panose="02010600040101010101" pitchFamily="2" charset="-122"/>
                            <a:ea typeface="华文仿宋" panose="02010600040101010101" pitchFamily="2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b="0" dirty="0">
                              <a:solidFill>
                                <a:sysClr val="windowText" lastClr="000000"/>
                              </a:solidFill>
                              <a:latin typeface="华文仿宋" panose="02010600040101010101" pitchFamily="2" charset="-122"/>
                              <a:ea typeface="华文仿宋" panose="02010600040101010101" pitchFamily="2" charset="-122"/>
                            </a:rPr>
                            <a:t>略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89744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176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F7605-4567-FE81-8506-85A01AC6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位运算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96C472-2D3C-3D9B-1D38-E0F10B433674}"/>
              </a:ext>
            </a:extLst>
          </p:cNvPr>
          <p:cNvSpPr txBox="1"/>
          <p:nvPr/>
        </p:nvSpPr>
        <p:spPr>
          <a:xfrm>
            <a:off x="269507" y="1343818"/>
            <a:ext cx="101161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0b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为二进制表示，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0x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为十六进制表示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&amp; 交集、| 并集、^ 看不同、~ 全翻、&lt;&lt; &gt;&gt; 搬家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注意：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/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1.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一定要写 1u &lt;&lt; n（1 &lt;&lt; 31 是有符号溢出，未定义行为）。</a:t>
            </a:r>
          </a:p>
          <a:p>
            <a:pPr lvl="0"/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2.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移位超过位宽（1u &lt;&lt; 32）也是未定义行为，n 必须先保证范围。</a:t>
            </a:r>
          </a:p>
          <a:p>
            <a:pPr lvl="0"/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3.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有符号负数右移是"算术右移"（补符号位），和逻辑右移不一样，别拿 int8_t 随便移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/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4.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移动为单向进行，不是循环队列</a:t>
            </a:r>
            <a:endParaRPr lang="zh-CN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65E1E7-55F2-36F8-6F42-C991CA31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6" y="3431405"/>
            <a:ext cx="4058216" cy="23911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70848B-060F-4EF2-031B-EF56EF4E127A}"/>
              </a:ext>
            </a:extLst>
          </p:cNvPr>
          <p:cNvSpPr txBox="1"/>
          <p:nvPr/>
        </p:nvSpPr>
        <p:spPr>
          <a:xfrm>
            <a:off x="5120640" y="3429000"/>
            <a:ext cx="5948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高低位：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位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:    7   6   5   4   3   2   1   0</a:t>
            </a: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最高位（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MSB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）：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7</a:t>
            </a: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最低位（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LSB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）：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0278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ECC43-B03B-296C-BD47-F2F10BCC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switch case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语句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73F4B-4D83-6385-C436-9A5B2863F5C5}"/>
              </a:ext>
            </a:extLst>
          </p:cNvPr>
          <p:cNvSpPr txBox="1"/>
          <p:nvPr/>
        </p:nvSpPr>
        <p:spPr>
          <a:xfrm>
            <a:off x="142775" y="1041023"/>
            <a:ext cx="62034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latinLnBrk="1"/>
            <a:r>
              <a:rPr lang="zh-CN" altLang="en-US" sz="16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说明</a:t>
            </a:r>
            <a:endParaRPr lang="en-US" altLang="zh-CN" sz="1600" b="0" i="0" dirty="0">
              <a:solidFill>
                <a:schemeClr val="tx1"/>
              </a:solidFill>
              <a:effectLst/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4290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switch 后面的表达式的值将会与每个 case 后面的常量值进行比较，直到找到匹配的值或者执行到 default（如果存在）。</a:t>
            </a:r>
          </a:p>
          <a:p>
            <a:pPr marL="34290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如果找到匹配的值，将执行相应 case 后面的代码块，然后跳出 switch 语句。</a:t>
            </a:r>
          </a:p>
          <a:p>
            <a:pPr marL="34290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如果没有匹配的值，并且有 default，则执行 default 后面的代码块。</a:t>
            </a:r>
          </a:p>
          <a:p>
            <a:pPr marL="34290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如果没有匹配的值，并且没有 default，则跳过整个 switch 语句直到结束</a:t>
            </a:r>
            <a:endParaRPr lang="zh-CN" altLang="zh-CN" sz="1600" b="0" i="0" dirty="0">
              <a:solidFill>
                <a:srgbClr val="333333"/>
              </a:solidFill>
              <a:effectLst/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8B83D3-C9B1-7A82-F167-3ED2CF40AEBE}"/>
              </a:ext>
            </a:extLst>
          </p:cNvPr>
          <p:cNvSpPr txBox="1"/>
          <p:nvPr/>
        </p:nvSpPr>
        <p:spPr>
          <a:xfrm>
            <a:off x="6489032" y="1120676"/>
            <a:ext cx="52954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latinLnBrk="1"/>
            <a:r>
              <a:rPr lang="zh-CN" altLang="en-US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规则：</a:t>
            </a:r>
            <a:endParaRPr lang="en-US" altLang="zh-CN" sz="1400" b="1" i="0" dirty="0">
              <a:solidFill>
                <a:schemeClr val="tx1"/>
              </a:solidFill>
              <a:effectLst/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switch 表达式的类型：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switch 语句中的表达式必须是整数类型（char、short、int或枚举），或者是能够隐式转换为整数类型的表达式。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case 标签的唯一性：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在 switch 语句中，每个 case 标签必须是唯一的，不能有重复的值。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默认情况的可选性：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switch 语句中的 default 标签是可选的。如果没有匹配的 case 标签，则会执行 default 标签下的代码块（如果存在）。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case 标签中的常量值：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case 标签后面的值必须是一个常量表达式，这意味着它的值在编译时就能确定。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case 标签的顺序：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switch 语句中的 case 标签的顺序并不重要，它们可以按照任意顺序编写。程序会按照 case 标签出现的顺序依次匹配。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break 语句的使用：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在每个 case 标签的代码块结束处通常需要使用 break 语句来终止 switch 语句的执行。如果没有 break 语句，程序将会继续执行下一个 case 标签中的代码，直到遇到 break 语句或 switch 语句结束。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switch 语句的嵌套：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switch 语句可以嵌套在其他 switch 语句中，但是需要注意代码的可读性和复杂性。</a:t>
            </a:r>
          </a:p>
          <a:p>
            <a:pPr marL="0" marR="0" lvl="0" indent="-342900" algn="l" latinLnBrk="1">
              <a:buFont typeface="Arial" panose="020B0604020202020204" pitchFamily="34" charset="0"/>
              <a:buChar char="•"/>
            </a:pPr>
            <a:r>
              <a:rPr lang="zh-CN" altLang="zh-CN" sz="1400" b="1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case 标签和表达式的范围：</a:t>
            </a:r>
            <a:r>
              <a:rPr lang="zh-CN" altLang="zh-CN" sz="1400" b="0" i="0" dirty="0"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 switch 语句的 case 标签可以是整数常量表达式，但不能是浮点数或字符串。</a:t>
            </a:r>
            <a:endParaRPr lang="zh-CN" altLang="zh-CN" sz="1400" b="0" i="0" dirty="0">
              <a:solidFill>
                <a:srgbClr val="333333"/>
              </a:solidFill>
              <a:effectLst/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A324D4-02DC-D2DC-4CFE-7A06F3C26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75" y="3349347"/>
            <a:ext cx="2743583" cy="239110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1F212C6-2FF4-D447-B83A-690972201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001" y="4262583"/>
            <a:ext cx="3425643" cy="169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3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EE623-E9C9-C6D1-71C2-368FF0F81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状</a:t>
            </a:r>
            <a:r>
              <a:rPr lang="zh-CN" altLang="en-US" dirty="0"/>
              <a:t>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59F367-51E1-048D-4C14-FAC666A0ED96}"/>
              </a:ext>
            </a:extLst>
          </p:cNvPr>
          <p:cNvSpPr txBox="1"/>
          <p:nvPr/>
        </p:nvSpPr>
        <p:spPr>
          <a:xfrm>
            <a:off x="163629" y="1193533"/>
            <a:ext cx="11377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状态标志：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用某一位表示"某件事成不成立"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——只有真/假两种结果，不带数值大小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为什么这么用：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一个变量存一件事太浪费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，在特定情况下，用每一位代表一个事件，以此压缩存储空间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6F1B44-AAFF-77D0-6008-247708802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3" y="1971472"/>
            <a:ext cx="4372585" cy="1457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FFAEBE-76E5-B778-6EB4-085EF31D1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3" y="3695623"/>
            <a:ext cx="4286848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F81C0-90F4-07CE-6A00-9578CA52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BC2A5C-1595-C4E9-FEC7-6A3394DF144A}"/>
              </a:ext>
            </a:extLst>
          </p:cNvPr>
          <p:cNvSpPr txBox="1"/>
          <p:nvPr/>
        </p:nvSpPr>
        <p:spPr>
          <a:xfrm>
            <a:off x="96253" y="991402"/>
            <a:ext cx="10515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掩码：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告诉程序这次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只关心、只改动哪几位</a:t>
            </a:r>
            <a:endParaRPr lang="en-US" altLang="zh-CN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规则：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掩码里是 1 的位 = 参与运算、要处理的位；是 0 的位 = 不理会、保持原样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。所以掩码本身不是数据，它是一件工具，形状完全由你想操作的位置决定：</a:t>
            </a:r>
          </a:p>
          <a:p>
            <a:pPr lvl="0"/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要操作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第 n 位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：掩码就是 1u &lt;&lt; n，只有这一位是 1，例如 bit3 的掩码是 0x08（0000 1000）</a:t>
            </a:r>
          </a:p>
          <a:p>
            <a:pPr lvl="0"/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要操作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连续几位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（比如 bit4~bit2 共 3 位）：掩码是 0x07 &lt;&lt; 2（0001 1100）</a:t>
            </a:r>
          </a:p>
          <a:p>
            <a:pPr lvl="0"/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要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清掉某一位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时，需要的是它的反面掩码 ~(1u &lt;&lt; n)，例如 ~0x08 = 0xF7（1111 0111）——只有目标位是 0，其余全是 1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0"/>
            <a:endParaRPr lang="en-US" altLang="zh-CN" dirty="0"/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置位：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把某一位从 0 变成 1，而且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绝对不能碰到其他位</a:t>
            </a:r>
            <a:endParaRPr lang="en-US" altLang="zh-CN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为什么用按位或 |？因为 | 的规则是"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有一个 1，结果就是 1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"。把它和掩码配合起来看：</a:t>
            </a:r>
          </a:p>
          <a:p>
            <a:pPr lvl="0"/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掩码里是 1 的位 → 无论原来是什么，结果都被强制变成 1（这就是"点亮"）；</a:t>
            </a:r>
          </a:p>
          <a:p>
            <a:pPr lvl="0"/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掩码里是 0 的位 → 结果等于原来那一位（保持不变）。</a:t>
            </a: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所以 status |= FLAG_X 的含义就是"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只把 X 对应的那一位点亮，别的位原封不动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"</a:t>
            </a:r>
          </a:p>
          <a:p>
            <a:endParaRPr lang="en-US" altLang="zh-CN" dirty="0"/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清位：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把某一位从 1 变回 0，同样不许影响其他位。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注意：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清位不能直接用掩码去 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&amp;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因为 &amp; 的规则是"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都为 1，结果才是 1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"：掩码里的 1 会保留原来的值，掩码里的 0 会把结果压成 0。所以想清掉哪一位，就必须让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掩码里那一位是 0、其余全是 1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——这正是 ~(1u &lt;&lt; n)</a:t>
            </a: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于是 status &amp;= ~FLAG_X 的含义是"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只把 X 那一位按灭，其他位不变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"</a:t>
            </a: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最常见的错误就是把两者搞反：写成 status &amp;= FLAG_X，那不是清 X，而是"</a:t>
            </a:r>
            <a:r>
              <a:rPr lang="zh-CN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只保留 X，其他全清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"，结果完全相反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197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17E2B-03BF-A536-124D-D6B1C8A5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1F32F6-5A58-5AC1-CEED-F71B555B0AA4}"/>
              </a:ext>
            </a:extLst>
          </p:cNvPr>
          <p:cNvSpPr txBox="1"/>
          <p:nvPr/>
        </p:nvSpPr>
        <p:spPr>
          <a:xfrm>
            <a:off x="154004" y="988679"/>
            <a:ext cx="83451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状态字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用位来分区的一个整数</a:t>
            </a: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一个整数（8 位、16 位或 32 位）本身只是二进制位，人们约定好它内部被切成若干段，每段固定表示一个含义——有的段只占 1 位，用来表示"有/没有"，那就是状态标志；有的段占好几位，用来表示一个具体的数值，比如错误码、温度、电压。这些段合起来，作为一个整体，就称为状态字。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提出的理由：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一是硬件本来就是按位定义的，寄存器的每一位都对应一个真实的物理触发器；二是通信资源很贵，把若干信息打包进一个字，一次就能传完；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三是读取效率，一次访问就得到全部信息，还能避免读到不一致的中间状态。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操作：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解码（把整体拆成各字段）和打包（把各字段合成整体）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401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81D7A-F5AD-F929-A0B7-C9B6C828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volatile</a:t>
            </a:r>
            <a:endParaRPr lang="zh-CN" altLang="en-US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5F12BD-2A56-AF15-5B7B-61D6233C1F0C}"/>
              </a:ext>
            </a:extLst>
          </p:cNvPr>
          <p:cNvSpPr txBox="1"/>
          <p:nvPr/>
        </p:nvSpPr>
        <p:spPr>
          <a:xfrm>
            <a:off x="182880" y="1241659"/>
            <a:ext cx="11338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volatile 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类型限定符（和 const 同一类，不是类型，也不是存储类别），写在变量类型前面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作用：</a:t>
            </a:r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告诉编译器这个值可能在你不知道的时候被改变，每次用它都必须老老实实去内存（或硬件）里重新读一次，不许自作聪明地优化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判断标准：这个值会不会在"你以为不变"的时候被别的东西改掉？ 会，就加 volatile。</a:t>
            </a:r>
          </a:p>
          <a:p>
            <a:r>
              <a:rPr lang="zh-CN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不需要加的情况：只在同一个函数里用的普通局部变量、调用的参数、普通全局配置常量。到处乱加只会略微降低优化效果（每次访问都真的读写内存），并不能带来正确性上的好处。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8912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2580</Words>
  <Application>Microsoft Office PowerPoint</Application>
  <PresentationFormat>宽屏</PresentationFormat>
  <Paragraphs>106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华文仿宋</vt:lpstr>
      <vt:lpstr>Arial</vt:lpstr>
      <vt:lpstr>Cambria Math</vt:lpstr>
      <vt:lpstr>Times New Roman</vt:lpstr>
      <vt:lpstr>Office 主题​​</vt:lpstr>
      <vt:lpstr>GTIIT-KongFu战队 电控组 C语言培训-3</vt:lpstr>
      <vt:lpstr>培训内容</vt:lpstr>
      <vt:lpstr>运算符</vt:lpstr>
      <vt:lpstr>运算符</vt:lpstr>
      <vt:lpstr>位运算</vt:lpstr>
      <vt:lpstr>switch case语句</vt:lpstr>
      <vt:lpstr>状态</vt:lpstr>
      <vt:lpstr>状态</vt:lpstr>
      <vt:lpstr>状态</vt:lpstr>
      <vt:lpstr>volatile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C</dc:creator>
  <cp:lastModifiedBy>MD C</cp:lastModifiedBy>
  <cp:revision>4</cp:revision>
  <dcterms:created xsi:type="dcterms:W3CDTF">2026-09-27T07:30:08Z</dcterms:created>
  <dcterms:modified xsi:type="dcterms:W3CDTF">2026-09-27T09:45:20Z</dcterms:modified>
</cp:coreProperties>
</file>