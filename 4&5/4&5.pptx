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7" r:id="rId3"/>
    <p:sldId id="269" r:id="rId4"/>
    <p:sldId id="270" r:id="rId5"/>
    <p:sldId id="272" r:id="rId6"/>
    <p:sldId id="273" r:id="rId7"/>
    <p:sldId id="271" r:id="rId8"/>
    <p:sldId id="274" r:id="rId9"/>
    <p:sldId id="275" r:id="rId10"/>
    <p:sldId id="27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72"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3732F-6252-A055-9476-E12C116D1F9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4F48DD1-F466-6040-765B-FA47A219C7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07CBEC9-F087-1EAB-D600-EC362F4A35E7}"/>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5" name="页脚占位符 4">
            <a:extLst>
              <a:ext uri="{FF2B5EF4-FFF2-40B4-BE49-F238E27FC236}">
                <a16:creationId xmlns:a16="http://schemas.microsoft.com/office/drawing/2014/main" id="{7BCABBC1-6E04-6284-F40A-6B7E37D274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C04F13-FE0F-64E7-2DF9-726EB571D782}"/>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3426530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1B6BE6-6C40-BE0B-35F5-EE2503BC37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FC4B900-4AF7-1DF9-FF2B-27F0B382D51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ABD894A-9B8E-1895-1D98-2262F9120348}"/>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5" name="页脚占位符 4">
            <a:extLst>
              <a:ext uri="{FF2B5EF4-FFF2-40B4-BE49-F238E27FC236}">
                <a16:creationId xmlns:a16="http://schemas.microsoft.com/office/drawing/2014/main" id="{45111278-8359-433F-09BF-A8520962C9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E45603-7066-6849-3ADF-123032D3B166}"/>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1760773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1C1D9-A9C1-06B2-82EB-7DE9C1F2DA8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F5229D2-5AE2-C9BD-A01A-103C70AA5C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581D341-C9BB-5B53-F9A4-9596BC9F4731}"/>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5" name="页脚占位符 4">
            <a:extLst>
              <a:ext uri="{FF2B5EF4-FFF2-40B4-BE49-F238E27FC236}">
                <a16:creationId xmlns:a16="http://schemas.microsoft.com/office/drawing/2014/main" id="{39F6514D-8C14-9E74-4E11-DCA7DB74BEF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4B7C7F-D380-4B16-1033-E64E30EE5935}"/>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120441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23316-CAE4-1C97-7B97-2F65429F105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4BBCE7-C488-FD9E-CCB8-AB71754449A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D141DB2-D909-FD86-3808-919D841A433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5187AAA-0CF8-8EE1-251F-0FA71A104581}"/>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6" name="页脚占位符 5">
            <a:extLst>
              <a:ext uri="{FF2B5EF4-FFF2-40B4-BE49-F238E27FC236}">
                <a16:creationId xmlns:a16="http://schemas.microsoft.com/office/drawing/2014/main" id="{DDB7863F-92F6-2985-C9F6-C8351E9AE47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AED268E-74BE-0174-FECD-10815A0E7D39}"/>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121929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1339A6-86BC-A8E3-7EAC-D55078BBFA0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2207C8-CE5A-C35C-4EBB-4D4AD019C4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341DB55-5023-2905-34E6-024B8CB8522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8A424E1-01B8-427A-0880-2AC6AE8600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684DBB2-F45E-B8D6-9BE1-8DB0216A2F8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D62D5DA-C325-D132-6251-82EA4AF0B4A4}"/>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8" name="页脚占位符 7">
            <a:extLst>
              <a:ext uri="{FF2B5EF4-FFF2-40B4-BE49-F238E27FC236}">
                <a16:creationId xmlns:a16="http://schemas.microsoft.com/office/drawing/2014/main" id="{EE98023D-737B-9188-7484-035A1585CC6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1D4977B-8A03-1BAF-F9C3-3396A482CC36}"/>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2842896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18DA51-18E8-575F-C382-A25533A456C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5C685A5-BF79-3C3D-465A-FB59D5DD77AD}"/>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4" name="页脚占位符 3">
            <a:extLst>
              <a:ext uri="{FF2B5EF4-FFF2-40B4-BE49-F238E27FC236}">
                <a16:creationId xmlns:a16="http://schemas.microsoft.com/office/drawing/2014/main" id="{A9066C9B-B649-9C73-79F0-D41DF651E15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BCE0444-AB9C-BCBF-9B5F-BBA7100BEDE2}"/>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1166745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D93EF01-C955-69BD-97C6-6006B6CAA5EA}"/>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3" name="页脚占位符 2">
            <a:extLst>
              <a:ext uri="{FF2B5EF4-FFF2-40B4-BE49-F238E27FC236}">
                <a16:creationId xmlns:a16="http://schemas.microsoft.com/office/drawing/2014/main" id="{407A1F77-1142-408E-7794-122BC4E33A6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E22750A-CE8A-36D5-6C53-B8D2D3EF5487}"/>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3658354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4B19C1-E4C7-F2CB-5974-0C3AF0E64BB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7625D71-3011-00B7-F609-B8CB21EA07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FEFAD73-77E9-C5F1-EEB0-D0F238D774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94FAD78-076F-2C91-B96E-2AD029866E34}"/>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6" name="页脚占位符 5">
            <a:extLst>
              <a:ext uri="{FF2B5EF4-FFF2-40B4-BE49-F238E27FC236}">
                <a16:creationId xmlns:a16="http://schemas.microsoft.com/office/drawing/2014/main" id="{11D32E2F-630F-6B8A-507B-8E2AE0F38CA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DCF63F-85D6-4C91-4750-538F200487AB}"/>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2183775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1A8EF2-D950-6479-3A06-96B2A8B474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BB10BA7-8D29-58A5-0949-F774FAD930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40BA3D1-640E-770A-A421-6E9566FA20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CCB2C5-BB71-B1AC-0F84-551E8CA7F223}"/>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6" name="页脚占位符 5">
            <a:extLst>
              <a:ext uri="{FF2B5EF4-FFF2-40B4-BE49-F238E27FC236}">
                <a16:creationId xmlns:a16="http://schemas.microsoft.com/office/drawing/2014/main" id="{6B059992-D7C6-15C9-FC20-E815163FFB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4EA0B3-86A1-F860-C86D-F3BC2336FD23}"/>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650143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B661C0-CC8D-07F8-CE4F-FA6C319813E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336BA4-052D-0270-23DA-BE52F855BBB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1D3ECE-C8DE-F22D-7E5E-2F7076AE9319}"/>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5" name="页脚占位符 4">
            <a:extLst>
              <a:ext uri="{FF2B5EF4-FFF2-40B4-BE49-F238E27FC236}">
                <a16:creationId xmlns:a16="http://schemas.microsoft.com/office/drawing/2014/main" id="{AF3DA563-E31B-32C6-F7DC-2E31BD8516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6F3305-7956-542C-090C-B88ADB4B3273}"/>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226964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B27A46E-E940-7060-C6DE-9757B796939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7B6B1A9-F580-32B5-08EC-F451CA41DDF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5E9B2F-097C-AFFE-F33D-804F4E5A8722}"/>
              </a:ext>
            </a:extLst>
          </p:cNvPr>
          <p:cNvSpPr>
            <a:spLocks noGrp="1"/>
          </p:cNvSpPr>
          <p:nvPr>
            <p:ph type="dt" sz="half" idx="10"/>
          </p:nvPr>
        </p:nvSpPr>
        <p:spPr/>
        <p:txBody>
          <a:bodyPr/>
          <a:lstStyle/>
          <a:p>
            <a:fld id="{4B128FF5-A083-48E9-ACE8-7B1625837366}" type="datetimeFigureOut">
              <a:rPr lang="zh-CN" altLang="en-US" smtClean="0"/>
              <a:t>2026/9/28</a:t>
            </a:fld>
            <a:endParaRPr lang="zh-CN" altLang="en-US"/>
          </a:p>
        </p:txBody>
      </p:sp>
      <p:sp>
        <p:nvSpPr>
          <p:cNvPr id="5" name="页脚占位符 4">
            <a:extLst>
              <a:ext uri="{FF2B5EF4-FFF2-40B4-BE49-F238E27FC236}">
                <a16:creationId xmlns:a16="http://schemas.microsoft.com/office/drawing/2014/main" id="{5DD4FE49-CACC-5D64-0B48-B6D7184514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E7DB2B-0FFD-6DDE-091E-7332941C57E2}"/>
              </a:ext>
            </a:extLst>
          </p:cNvPr>
          <p:cNvSpPr>
            <a:spLocks noGrp="1"/>
          </p:cNvSpPr>
          <p:nvPr>
            <p:ph type="sldNum" sz="quarter" idx="12"/>
          </p:nvPr>
        </p:nvSpPr>
        <p:spPr/>
        <p:txBody>
          <a:body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2300975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F8EF143-B7D0-DC1D-8775-102C82CDEC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61022BA-6F6B-3713-43E0-B8C985B91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E14FE03-1B77-FA8F-31DA-8AE40E4EC1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128FF5-A083-48E9-ACE8-7B1625837366}" type="datetimeFigureOut">
              <a:rPr lang="zh-CN" altLang="en-US" smtClean="0"/>
              <a:t>2026/9/28</a:t>
            </a:fld>
            <a:endParaRPr lang="zh-CN" altLang="en-US"/>
          </a:p>
        </p:txBody>
      </p:sp>
      <p:sp>
        <p:nvSpPr>
          <p:cNvPr id="5" name="页脚占位符 4">
            <a:extLst>
              <a:ext uri="{FF2B5EF4-FFF2-40B4-BE49-F238E27FC236}">
                <a16:creationId xmlns:a16="http://schemas.microsoft.com/office/drawing/2014/main" id="{7038E0AF-088C-C79D-3B6A-0EB1494E58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CC3484E-E3BF-AC8B-B2EF-8C16A451F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89736-EA58-4436-9FAD-729029A1B640}" type="slidenum">
              <a:rPr lang="zh-CN" altLang="en-US" smtClean="0"/>
              <a:t>‹#›</a:t>
            </a:fld>
            <a:endParaRPr lang="zh-CN" altLang="en-US"/>
          </a:p>
        </p:txBody>
      </p:sp>
    </p:spTree>
    <p:extLst>
      <p:ext uri="{BB962C8B-B14F-4D97-AF65-F5344CB8AC3E}">
        <p14:creationId xmlns:p14="http://schemas.microsoft.com/office/powerpoint/2010/main" val="3751399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46CD5-00B5-E1B2-D4B2-832EAD77A6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9787AF-156A-C681-87E4-062DEE9CB6F2}"/>
              </a:ext>
            </a:extLst>
          </p:cNvPr>
          <p:cNvSpPr>
            <a:spLocks noGrp="1"/>
          </p:cNvSpPr>
          <p:nvPr>
            <p:ph type="ctrTitle"/>
          </p:nvPr>
        </p:nvSpPr>
        <p:spPr>
          <a:xfrm>
            <a:off x="1524000" y="1743075"/>
            <a:ext cx="9144000" cy="2387600"/>
          </a:xfrm>
        </p:spPr>
        <p:txBody>
          <a:bodyPr>
            <a:noAutofit/>
          </a:bodyPr>
          <a:lstStyle/>
          <a:p>
            <a:pPr>
              <a:lnSpc>
                <a:spcPct val="150000"/>
              </a:lnSpc>
            </a:pPr>
            <a:r>
              <a:rPr lang="en-US" altLang="zh-CN" sz="4000" dirty="0">
                <a:latin typeface="Times New Roman" panose="02020603050405020304" pitchFamily="18" charset="0"/>
                <a:cs typeface="Times New Roman" panose="02020603050405020304" pitchFamily="18" charset="0"/>
              </a:rPr>
              <a:t>GTIIT-</a:t>
            </a:r>
            <a:r>
              <a:rPr lang="en-US" altLang="zh-CN" sz="4000" dirty="0" err="1">
                <a:latin typeface="Times New Roman" panose="02020603050405020304" pitchFamily="18" charset="0"/>
                <a:cs typeface="Times New Roman" panose="02020603050405020304" pitchFamily="18" charset="0"/>
              </a:rPr>
              <a:t>KongFu</a:t>
            </a:r>
            <a:r>
              <a:rPr lang="zh-CN" altLang="en-US" sz="4000" dirty="0">
                <a:latin typeface="Times New Roman" panose="02020603050405020304" pitchFamily="18" charset="0"/>
                <a:cs typeface="Times New Roman" panose="02020603050405020304" pitchFamily="18" charset="0"/>
              </a:rPr>
              <a:t>战队</a:t>
            </a:r>
            <a:br>
              <a:rPr lang="en-US" altLang="zh-CN" sz="4000" dirty="0">
                <a:latin typeface="Times New Roman" panose="02020603050405020304" pitchFamily="18" charset="0"/>
                <a:cs typeface="Times New Roman" panose="02020603050405020304" pitchFamily="18" charset="0"/>
              </a:rPr>
            </a:br>
            <a:r>
              <a:rPr lang="zh-CN" altLang="en-US" sz="4000" dirty="0">
                <a:latin typeface="Times New Roman" panose="02020603050405020304" pitchFamily="18" charset="0"/>
                <a:cs typeface="Times New Roman" panose="02020603050405020304" pitchFamily="18" charset="0"/>
              </a:rPr>
              <a:t>电控组</a:t>
            </a:r>
            <a:br>
              <a:rPr lang="en-US" altLang="zh-CN" sz="4000" dirty="0">
                <a:latin typeface="Times New Roman" panose="02020603050405020304" pitchFamily="18" charset="0"/>
                <a:cs typeface="Times New Roman" panose="02020603050405020304" pitchFamily="18" charset="0"/>
              </a:rPr>
            </a:br>
            <a:r>
              <a:rPr lang="en-US" altLang="zh-CN" sz="4000" dirty="0">
                <a:latin typeface="Times New Roman" panose="02020603050405020304" pitchFamily="18" charset="0"/>
                <a:cs typeface="Times New Roman" panose="02020603050405020304" pitchFamily="18" charset="0"/>
              </a:rPr>
              <a:t>C</a:t>
            </a:r>
            <a:r>
              <a:rPr lang="zh-CN" altLang="en-US" sz="4000" dirty="0">
                <a:latin typeface="Times New Roman" panose="02020603050405020304" pitchFamily="18" charset="0"/>
                <a:cs typeface="Times New Roman" panose="02020603050405020304" pitchFamily="18" charset="0"/>
              </a:rPr>
              <a:t>语言培训</a:t>
            </a:r>
            <a:r>
              <a:rPr lang="en-US" altLang="zh-CN" sz="4000" dirty="0">
                <a:latin typeface="Times New Roman" panose="02020603050405020304" pitchFamily="18" charset="0"/>
                <a:cs typeface="Times New Roman" panose="02020603050405020304" pitchFamily="18" charset="0"/>
              </a:rPr>
              <a:t>-4&amp;5</a:t>
            </a:r>
            <a:endParaRPr lang="zh-CN" altLang="en-US" sz="40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562792D5-1038-364B-7B0F-E0F26651F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659408" cy="1743075"/>
          </a:xfrm>
          <a:prstGeom prst="rect">
            <a:avLst/>
          </a:prstGeom>
        </p:spPr>
      </p:pic>
    </p:spTree>
    <p:extLst>
      <p:ext uri="{BB962C8B-B14F-4D97-AF65-F5344CB8AC3E}">
        <p14:creationId xmlns:p14="http://schemas.microsoft.com/office/powerpoint/2010/main" val="204766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A169B7-9BDF-F88E-A9F0-DBBAD7DD81BD}"/>
              </a:ext>
            </a:extLst>
          </p:cNvPr>
          <p:cNvSpPr>
            <a:spLocks noGrp="1"/>
          </p:cNvSpPr>
          <p:nvPr>
            <p:ph type="title"/>
          </p:nvPr>
        </p:nvSpPr>
        <p:spPr/>
        <p:txBody>
          <a:bodyPr>
            <a:normAutofit/>
          </a:bodyPr>
          <a:lstStyle/>
          <a:p>
            <a:r>
              <a:rPr lang="zh-CN" altLang="en-US" sz="4000" dirty="0">
                <a:latin typeface="华文仿宋" panose="02010600040101010101" pitchFamily="2" charset="-122"/>
                <a:ea typeface="华文仿宋" panose="02010600040101010101" pitchFamily="2" charset="-122"/>
              </a:rPr>
              <a:t>培训内容</a:t>
            </a:r>
          </a:p>
        </p:txBody>
      </p:sp>
      <p:sp>
        <p:nvSpPr>
          <p:cNvPr id="3" name="内容占位符 2">
            <a:extLst>
              <a:ext uri="{FF2B5EF4-FFF2-40B4-BE49-F238E27FC236}">
                <a16:creationId xmlns:a16="http://schemas.microsoft.com/office/drawing/2014/main" id="{AB03EAE1-578D-6ABB-0053-D860B597A63C}"/>
              </a:ext>
            </a:extLst>
          </p:cNvPr>
          <p:cNvSpPr>
            <a:spLocks noGrp="1"/>
          </p:cNvSpPr>
          <p:nvPr>
            <p:ph idx="1"/>
          </p:nvPr>
        </p:nvSpPr>
        <p:spPr/>
        <p:txBody>
          <a:bodyPr>
            <a:normAutofit/>
          </a:bodyPr>
          <a:lstStyle/>
          <a:p>
            <a:pPr marL="514350" indent="-514350">
              <a:buFont typeface="+mj-lt"/>
              <a:buAutoNum type="arabicPeriod"/>
            </a:pPr>
            <a:r>
              <a:rPr lang="zh-CN" altLang="en-US" dirty="0">
                <a:latin typeface="华文仿宋" panose="02010600040101010101" pitchFamily="2" charset="-122"/>
                <a:ea typeface="华文仿宋" panose="02010600040101010101" pitchFamily="2" charset="-122"/>
              </a:rPr>
              <a:t>预处理器</a:t>
            </a: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r>
              <a:rPr lang="zh-CN" altLang="en-US" dirty="0">
                <a:latin typeface="华文仿宋" panose="02010600040101010101" pitchFamily="2" charset="-122"/>
                <a:ea typeface="华文仿宋" panose="02010600040101010101" pitchFamily="2" charset="-122"/>
              </a:rPr>
              <a:t>头文件</a:t>
            </a: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r>
              <a:rPr lang="zh-CN" altLang="en-US" dirty="0">
                <a:latin typeface="华文仿宋" panose="02010600040101010101" pitchFamily="2" charset="-122"/>
                <a:ea typeface="华文仿宋" panose="02010600040101010101" pitchFamily="2" charset="-122"/>
              </a:rPr>
              <a:t>指针</a:t>
            </a: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r>
              <a:rPr lang="zh-CN" altLang="en-US" dirty="0">
                <a:latin typeface="华文仿宋" panose="02010600040101010101" pitchFamily="2" charset="-122"/>
                <a:ea typeface="华文仿宋" panose="02010600040101010101" pitchFamily="2" charset="-122"/>
              </a:rPr>
              <a:t>数组</a:t>
            </a: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r>
              <a:rPr lang="zh-CN" altLang="en-US" dirty="0">
                <a:latin typeface="华文仿宋" panose="02010600040101010101" pitchFamily="2" charset="-122"/>
                <a:ea typeface="华文仿宋" panose="02010600040101010101" pitchFamily="2" charset="-122"/>
              </a:rPr>
              <a:t>结构体</a:t>
            </a: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endParaRPr lang="en-US" altLang="zh-CN" dirty="0">
              <a:latin typeface="华文仿宋" panose="02010600040101010101" pitchFamily="2" charset="-122"/>
              <a:ea typeface="华文仿宋" panose="02010600040101010101" pitchFamily="2" charset="-122"/>
            </a:endParaRPr>
          </a:p>
          <a:p>
            <a:pPr marL="514350" indent="-514350">
              <a:buFont typeface="+mj-lt"/>
              <a:buAutoNum type="arabicPeriod"/>
            </a:pP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78075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73B6C1-338A-4379-8F3A-9FB9F48F6D9A}"/>
              </a:ext>
            </a:extLst>
          </p:cNvPr>
          <p:cNvSpPr>
            <a:spLocks noGrp="1"/>
          </p:cNvSpPr>
          <p:nvPr>
            <p:ph type="title"/>
          </p:nvPr>
        </p:nvSpPr>
        <p:spPr>
          <a:xfrm>
            <a:off x="0" y="0"/>
            <a:ext cx="10515600" cy="1325563"/>
          </a:xfrm>
        </p:spPr>
        <p:txBody>
          <a:bodyPr>
            <a:normAutofit/>
          </a:bodyPr>
          <a:lstStyle/>
          <a:p>
            <a:r>
              <a:rPr lang="zh-CN" altLang="en-US" sz="4000" dirty="0">
                <a:latin typeface="华文仿宋" panose="02010600040101010101" pitchFamily="2" charset="-122"/>
                <a:ea typeface="华文仿宋" panose="02010600040101010101" pitchFamily="2" charset="-122"/>
              </a:rPr>
              <a:t>预处理器</a:t>
            </a:r>
          </a:p>
        </p:txBody>
      </p:sp>
      <p:graphicFrame>
        <p:nvGraphicFramePr>
          <p:cNvPr id="4" name="表格 3">
            <a:extLst>
              <a:ext uri="{FF2B5EF4-FFF2-40B4-BE49-F238E27FC236}">
                <a16:creationId xmlns:a16="http://schemas.microsoft.com/office/drawing/2014/main" id="{6796A49D-6471-8732-4A9F-11EF5D4F9672}"/>
              </a:ext>
            </a:extLst>
          </p:cNvPr>
          <p:cNvGraphicFramePr>
            <a:graphicFrameLocks noGrp="1"/>
          </p:cNvGraphicFramePr>
          <p:nvPr>
            <p:extLst>
              <p:ext uri="{D42A27DB-BD31-4B8C-83A1-F6EECF244321}">
                <p14:modId xmlns:p14="http://schemas.microsoft.com/office/powerpoint/2010/main" val="1245611795"/>
              </p:ext>
            </p:extLst>
          </p:nvPr>
        </p:nvGraphicFramePr>
        <p:xfrm>
          <a:off x="2268719" y="363957"/>
          <a:ext cx="9387476" cy="6130086"/>
        </p:xfrm>
        <a:graphic>
          <a:graphicData uri="http://schemas.openxmlformats.org/drawingml/2006/table">
            <a:tbl>
              <a:tblPr>
                <a:tableStyleId>{5C22544A-7EE6-4342-B048-85BDC9FD1C3A}</a:tableStyleId>
              </a:tblPr>
              <a:tblGrid>
                <a:gridCol w="1223701">
                  <a:extLst>
                    <a:ext uri="{9D8B030D-6E8A-4147-A177-3AD203B41FA5}">
                      <a16:colId xmlns:a16="http://schemas.microsoft.com/office/drawing/2014/main" val="2513858302"/>
                    </a:ext>
                  </a:extLst>
                </a:gridCol>
                <a:gridCol w="4513124">
                  <a:extLst>
                    <a:ext uri="{9D8B030D-6E8A-4147-A177-3AD203B41FA5}">
                      <a16:colId xmlns:a16="http://schemas.microsoft.com/office/drawing/2014/main" val="2268879920"/>
                    </a:ext>
                  </a:extLst>
                </a:gridCol>
                <a:gridCol w="3650651">
                  <a:extLst>
                    <a:ext uri="{9D8B030D-6E8A-4147-A177-3AD203B41FA5}">
                      <a16:colId xmlns:a16="http://schemas.microsoft.com/office/drawing/2014/main" val="3286843285"/>
                    </a:ext>
                  </a:extLst>
                </a:gridCol>
              </a:tblGrid>
              <a:tr h="257080">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指令</a:t>
                      </a:r>
                      <a:endParaRPr lang="zh-CN" sz="1200" b="0" i="0">
                        <a:solidFill>
                          <a:srgbClr val="FFFFFF"/>
                        </a:solidFill>
                        <a:effectLst/>
                        <a:latin typeface="华文仿宋" panose="02010600040101010101" pitchFamily="2" charset="-122"/>
                        <a:ea typeface="华文仿宋" panose="02010600040101010101" pitchFamily="2" charset="-122"/>
                      </a:endParaRPr>
                    </a:p>
                  </a:txBody>
                  <a:tcPr marL="64369" marR="64369" marT="45978" marB="4597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描述</a:t>
                      </a:r>
                      <a:endParaRPr lang="zh-CN" sz="1200" b="0" i="0">
                        <a:solidFill>
                          <a:srgbClr val="FFFFFF"/>
                        </a:solidFill>
                        <a:effectLst/>
                        <a:latin typeface="华文仿宋" panose="02010600040101010101" pitchFamily="2" charset="-122"/>
                        <a:ea typeface="华文仿宋" panose="02010600040101010101" pitchFamily="2" charset="-122"/>
                      </a:endParaRPr>
                    </a:p>
                  </a:txBody>
                  <a:tcPr marL="64369" marR="64369" marT="45978" marB="4597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使用示例</a:t>
                      </a:r>
                      <a:endParaRPr lang="zh-CN" sz="1200" b="0" i="0">
                        <a:solidFill>
                          <a:srgbClr val="FFFFFF"/>
                        </a:solidFill>
                        <a:effectLst/>
                        <a:latin typeface="华文仿宋" panose="02010600040101010101" pitchFamily="2" charset="-122"/>
                        <a:ea typeface="华文仿宋" panose="02010600040101010101" pitchFamily="2" charset="-122"/>
                      </a:endParaRPr>
                    </a:p>
                  </a:txBody>
                  <a:tcPr marL="64369" marR="64369" marT="45978" marB="4597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4138621"/>
                  </a:ext>
                </a:extLst>
              </a:tr>
              <a:tr h="393739">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#define</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dirty="0">
                          <a:effectLst/>
                          <a:latin typeface="华文仿宋" panose="02010600040101010101" pitchFamily="2" charset="-122"/>
                          <a:ea typeface="华文仿宋" panose="02010600040101010101" pitchFamily="2" charset="-122"/>
                        </a:rPr>
                        <a:t>定义宏（符号常量或函数式宏）</a:t>
                      </a:r>
                      <a:endParaRPr lang="zh-CN" sz="1200" b="0" i="0" dirty="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#define PI 3.14159</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#define MAX(a,b) ((a) &gt; (b) ? (a) : (b))</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759441"/>
                  </a:ext>
                </a:extLst>
              </a:tr>
              <a:tr h="393739">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#include</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包含头文件</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#include &lt;stdio.h&gt;</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#include "myheader.h"</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83470"/>
                  </a:ext>
                </a:extLst>
              </a:tr>
              <a:tr h="22267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#undef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取消已定义的宏</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#undef PI</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817079"/>
                  </a:ext>
                </a:extLst>
              </a:tr>
              <a:tr h="56480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#ifdef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如果宏已定义则编译后续代码</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dirty="0">
                          <a:effectLst/>
                          <a:latin typeface="华文仿宋" panose="02010600040101010101" pitchFamily="2" charset="-122"/>
                          <a:ea typeface="华文仿宋" panose="02010600040101010101" pitchFamily="2" charset="-122"/>
                        </a:rPr>
                        <a:t>#ifdef DEBUG</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printf("Debug info\n");</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#endif</a:t>
                      </a:r>
                      <a:endParaRPr lang="zh-CN" sz="1200" b="0" i="0" dirty="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2776056"/>
                  </a:ext>
                </a:extLst>
              </a:tr>
              <a:tr h="735869">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#ifndef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如果宏未定义则编译后续代码（常用于头文件保护）</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#ifndef HEADER_H</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#define HEADER_H</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 内容 */</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#endif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3477956"/>
                  </a:ext>
                </a:extLst>
              </a:tr>
              <a:tr h="56480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条件编译（可配合defined操作符使用）</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 VERSION &gt; 2</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 新版代码 */</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#endif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3115575"/>
                  </a:ext>
                </a:extLst>
              </a:tr>
              <a:tr h="90693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#else</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#if/#ifdef/#ifndef的替代分支</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dirty="0">
                          <a:effectLst/>
                          <a:latin typeface="华文仿宋" panose="02010600040101010101" pitchFamily="2" charset="-122"/>
                          <a:ea typeface="华文仿宋" panose="02010600040101010101" pitchFamily="2" charset="-122"/>
                        </a:rPr>
                        <a:t>#ifdef WIN32</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 Windows代码 */</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#else</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 其他系统 */</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#endif</a:t>
                      </a:r>
                      <a:endParaRPr lang="zh-CN" sz="1200" b="0" i="0" dirty="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2593050"/>
                  </a:ext>
                </a:extLst>
              </a:tr>
              <a:tr h="90693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#elif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类似于else 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#if defined(UNIX)</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 Unix代码 */</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#elif defined(WIN32)</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 Windows代码 */</a:t>
                      </a:r>
                      <a:br>
                        <a:rPr lang="zh-CN" sz="1200">
                          <a:effectLst/>
                          <a:latin typeface="华文仿宋" panose="02010600040101010101" pitchFamily="2" charset="-122"/>
                          <a:ea typeface="华文仿宋" panose="02010600040101010101" pitchFamily="2" charset="-122"/>
                        </a:rPr>
                      </a:br>
                      <a:r>
                        <a:rPr lang="zh-CN" sz="1200">
                          <a:effectLst/>
                          <a:latin typeface="华文仿宋" panose="02010600040101010101" pitchFamily="2" charset="-122"/>
                          <a:ea typeface="华文仿宋" panose="02010600040101010101" pitchFamily="2" charset="-122"/>
                        </a:rPr>
                        <a:t>#endif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310093"/>
                  </a:ext>
                </a:extLst>
              </a:tr>
              <a:tr h="22267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#endif</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结束条件编译块</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如上例所示</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969775"/>
                  </a:ext>
                </a:extLst>
              </a:tr>
              <a:tr h="564804">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#error</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a:effectLst/>
                          <a:latin typeface="华文仿宋" panose="02010600040101010101" pitchFamily="2" charset="-122"/>
                          <a:ea typeface="华文仿宋" panose="02010600040101010101" pitchFamily="2" charset="-122"/>
                        </a:rPr>
                        <a:t>产生编译错误并输出消息</a:t>
                      </a:r>
                      <a:endParaRPr lang="zh-CN" sz="1200" b="0" i="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fontAlgn="t">
                        <a:spcBef>
                          <a:spcPts val="300"/>
                        </a:spcBef>
                        <a:spcAft>
                          <a:spcPts val="300"/>
                        </a:spcAft>
                        <a:buNone/>
                      </a:pPr>
                      <a:r>
                        <a:rPr lang="zh-CN" sz="1200" dirty="0">
                          <a:effectLst/>
                          <a:latin typeface="华文仿宋" panose="02010600040101010101" pitchFamily="2" charset="-122"/>
                          <a:ea typeface="华文仿宋" panose="02010600040101010101" pitchFamily="2" charset="-122"/>
                        </a:rPr>
                        <a:t>#if !defined(C99)</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#error "需要C99标准"</a:t>
                      </a:r>
                      <a:br>
                        <a:rPr lang="zh-CN" sz="1200" dirty="0">
                          <a:effectLst/>
                          <a:latin typeface="华文仿宋" panose="02010600040101010101" pitchFamily="2" charset="-122"/>
                          <a:ea typeface="华文仿宋" panose="02010600040101010101" pitchFamily="2" charset="-122"/>
                        </a:rPr>
                      </a:br>
                      <a:r>
                        <a:rPr lang="zh-CN" sz="1200" dirty="0">
                          <a:effectLst/>
                          <a:latin typeface="华文仿宋" panose="02010600040101010101" pitchFamily="2" charset="-122"/>
                          <a:ea typeface="华文仿宋" panose="02010600040101010101" pitchFamily="2" charset="-122"/>
                        </a:rPr>
                        <a:t>#endif</a:t>
                      </a:r>
                      <a:endParaRPr lang="zh-CN" sz="1200" b="0" i="0" dirty="0">
                        <a:solidFill>
                          <a:srgbClr val="333333"/>
                        </a:solidFill>
                        <a:effectLst/>
                        <a:latin typeface="华文仿宋" panose="02010600040101010101" pitchFamily="2" charset="-122"/>
                        <a:ea typeface="华文仿宋" panose="02010600040101010101" pitchFamily="2" charset="-122"/>
                      </a:endParaRPr>
                    </a:p>
                  </a:txBody>
                  <a:tcPr marL="22989" marR="22989" marT="22989" marB="321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7126632"/>
                  </a:ext>
                </a:extLst>
              </a:tr>
            </a:tbl>
          </a:graphicData>
        </a:graphic>
      </p:graphicFrame>
    </p:spTree>
    <p:extLst>
      <p:ext uri="{BB962C8B-B14F-4D97-AF65-F5344CB8AC3E}">
        <p14:creationId xmlns:p14="http://schemas.microsoft.com/office/powerpoint/2010/main" val="1688471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B5FE79-F318-FEBC-87B8-77D72DE484B8}"/>
              </a:ext>
            </a:extLst>
          </p:cNvPr>
          <p:cNvSpPr>
            <a:spLocks noGrp="1"/>
          </p:cNvSpPr>
          <p:nvPr>
            <p:ph type="title"/>
          </p:nvPr>
        </p:nvSpPr>
        <p:spPr>
          <a:xfrm>
            <a:off x="0" y="0"/>
            <a:ext cx="10515600" cy="1325563"/>
          </a:xfrm>
        </p:spPr>
        <p:txBody>
          <a:bodyPr>
            <a:normAutofit/>
          </a:bodyPr>
          <a:lstStyle/>
          <a:p>
            <a:r>
              <a:rPr lang="zh-CN" altLang="en-US" sz="4000" dirty="0">
                <a:latin typeface="华文仿宋" panose="02010600040101010101" pitchFamily="2" charset="-122"/>
                <a:ea typeface="华文仿宋" panose="02010600040101010101" pitchFamily="2" charset="-122"/>
              </a:rPr>
              <a:t>头文件</a:t>
            </a:r>
          </a:p>
        </p:txBody>
      </p:sp>
      <p:sp>
        <p:nvSpPr>
          <p:cNvPr id="5" name="文本框 4">
            <a:extLst>
              <a:ext uri="{FF2B5EF4-FFF2-40B4-BE49-F238E27FC236}">
                <a16:creationId xmlns:a16="http://schemas.microsoft.com/office/drawing/2014/main" id="{EC914901-5A3B-925F-3349-DC7A62F051FB}"/>
              </a:ext>
            </a:extLst>
          </p:cNvPr>
          <p:cNvSpPr txBox="1"/>
          <p:nvPr/>
        </p:nvSpPr>
        <p:spPr>
          <a:xfrm>
            <a:off x="0" y="1037022"/>
            <a:ext cx="9129132" cy="1754326"/>
          </a:xfrm>
          <a:prstGeom prst="rect">
            <a:avLst/>
          </a:prstGeom>
          <a:noFill/>
        </p:spPr>
        <p:txBody>
          <a:bodyPr wrap="square">
            <a:spAutoFit/>
          </a:bodyPr>
          <a:lstStyle/>
          <a:p>
            <a:pPr marL="0" marR="0" indent="0" algn="l">
              <a:buNone/>
            </a:pPr>
            <a:r>
              <a:rPr lang="zh-CN" altLang="zh-CN" sz="1800" b="0" dirty="0">
                <a:solidFill>
                  <a:schemeClr val="tx1"/>
                </a:solidFill>
                <a:effectLst/>
                <a:latin typeface="华文仿宋" panose="02010600040101010101" pitchFamily="2" charset="-122"/>
                <a:ea typeface="华文仿宋" panose="02010600040101010101" pitchFamily="2" charset="-122"/>
              </a:rPr>
              <a:t>头文件是扩展名为 </a:t>
            </a:r>
            <a:r>
              <a:rPr lang="zh-CN" altLang="zh-CN" sz="1800" b="1" dirty="0">
                <a:solidFill>
                  <a:schemeClr val="tx1"/>
                </a:solidFill>
                <a:effectLst/>
                <a:latin typeface="华文仿宋" panose="02010600040101010101" pitchFamily="2" charset="-122"/>
                <a:ea typeface="华文仿宋" panose="02010600040101010101" pitchFamily="2" charset="-122"/>
              </a:rPr>
              <a:t>.h</a:t>
            </a:r>
            <a:r>
              <a:rPr lang="zh-CN" altLang="zh-CN" sz="1800" b="0" dirty="0">
                <a:solidFill>
                  <a:schemeClr val="tx1"/>
                </a:solidFill>
                <a:effectLst/>
                <a:latin typeface="华文仿宋" panose="02010600040101010101" pitchFamily="2" charset="-122"/>
                <a:ea typeface="华文仿宋" panose="02010600040101010101" pitchFamily="2" charset="-122"/>
              </a:rPr>
              <a:t> 的文件，包含了 C 函数声明和宏定义，被多个源文件中引用共享。有两种类型的头文件：程序员编写的头文件和编译器自带的头文件。</a:t>
            </a:r>
          </a:p>
          <a:p>
            <a:pPr marL="0" marR="0" indent="0" algn="l">
              <a:buNone/>
            </a:pPr>
            <a:r>
              <a:rPr lang="zh-CN" altLang="zh-CN" sz="1800" b="0" dirty="0">
                <a:solidFill>
                  <a:schemeClr val="tx1"/>
                </a:solidFill>
                <a:effectLst/>
                <a:latin typeface="华文仿宋" panose="02010600040101010101" pitchFamily="2" charset="-122"/>
                <a:ea typeface="华文仿宋" panose="02010600040101010101" pitchFamily="2" charset="-122"/>
              </a:rPr>
              <a:t>在程序中要使用头文件，需要使用 C 预处理指令 </a:t>
            </a:r>
            <a:r>
              <a:rPr lang="zh-CN" altLang="zh-CN" sz="1800" b="1" dirty="0">
                <a:solidFill>
                  <a:schemeClr val="tx1"/>
                </a:solidFill>
                <a:effectLst/>
                <a:latin typeface="华文仿宋" panose="02010600040101010101" pitchFamily="2" charset="-122"/>
                <a:ea typeface="华文仿宋" panose="02010600040101010101" pitchFamily="2" charset="-122"/>
              </a:rPr>
              <a:t>#include</a:t>
            </a:r>
            <a:r>
              <a:rPr lang="zh-CN" altLang="zh-CN" sz="1800" b="0" dirty="0">
                <a:solidFill>
                  <a:schemeClr val="tx1"/>
                </a:solidFill>
                <a:effectLst/>
                <a:latin typeface="华文仿宋" panose="02010600040101010101" pitchFamily="2" charset="-122"/>
                <a:ea typeface="华文仿宋" panose="02010600040101010101" pitchFamily="2" charset="-122"/>
              </a:rPr>
              <a:t> 来引用它</a:t>
            </a:r>
            <a:endParaRPr lang="en-US" altLang="zh-CN" sz="1800" b="0" dirty="0">
              <a:solidFill>
                <a:schemeClr val="tx1"/>
              </a:solidFill>
              <a:effectLst/>
              <a:latin typeface="华文仿宋" panose="02010600040101010101" pitchFamily="2" charset="-122"/>
              <a:ea typeface="华文仿宋" panose="02010600040101010101" pitchFamily="2" charset="-122"/>
            </a:endParaRPr>
          </a:p>
          <a:p>
            <a:pPr marL="0" marR="0" indent="0" algn="l">
              <a:buNone/>
            </a:pPr>
            <a:endParaRPr lang="en-US" altLang="zh-CN" dirty="0">
              <a:latin typeface="华文仿宋" panose="02010600040101010101" pitchFamily="2" charset="-122"/>
              <a:ea typeface="华文仿宋" panose="02010600040101010101" pitchFamily="2" charset="-122"/>
            </a:endParaRPr>
          </a:p>
          <a:p>
            <a:r>
              <a:rPr lang="zh-CN" altLang="zh-CN" dirty="0">
                <a:latin typeface="华文仿宋" panose="02010600040101010101" pitchFamily="2" charset="-122"/>
                <a:ea typeface="华文仿宋" panose="02010600040101010101" pitchFamily="2" charset="-122"/>
              </a:rPr>
              <a:t>如果一个头文件被引用两次，编译器会处理两次头文件的内容，这将产生错误。为了防止这种情况，标准的做法是把文件的整个内容放在条件编译语句中</a:t>
            </a:r>
            <a:endParaRPr lang="zh-CN" altLang="zh-CN" sz="1050" b="0" dirty="0">
              <a:solidFill>
                <a:srgbClr val="333333"/>
              </a:solidFill>
              <a:effectLst/>
              <a:latin typeface="华文仿宋" panose="02010600040101010101" pitchFamily="2" charset="-122"/>
              <a:ea typeface="华文仿宋" panose="02010600040101010101" pitchFamily="2" charset="-122"/>
            </a:endParaRPr>
          </a:p>
        </p:txBody>
      </p:sp>
      <p:pic>
        <p:nvPicPr>
          <p:cNvPr id="7" name="图片 6">
            <a:extLst>
              <a:ext uri="{FF2B5EF4-FFF2-40B4-BE49-F238E27FC236}">
                <a16:creationId xmlns:a16="http://schemas.microsoft.com/office/drawing/2014/main" id="{357D0500-AE9B-45C9-F284-11D16EC65586}"/>
              </a:ext>
            </a:extLst>
          </p:cNvPr>
          <p:cNvPicPr>
            <a:picLocks noChangeAspect="1"/>
          </p:cNvPicPr>
          <p:nvPr/>
        </p:nvPicPr>
        <p:blipFill>
          <a:blip r:embed="rId2"/>
          <a:stretch>
            <a:fillRect/>
          </a:stretch>
        </p:blipFill>
        <p:spPr>
          <a:xfrm>
            <a:off x="7048744" y="2547814"/>
            <a:ext cx="4829849" cy="1762371"/>
          </a:xfrm>
          <a:prstGeom prst="rect">
            <a:avLst/>
          </a:prstGeom>
        </p:spPr>
      </p:pic>
      <p:sp>
        <p:nvSpPr>
          <p:cNvPr id="9" name="文本框 8">
            <a:extLst>
              <a:ext uri="{FF2B5EF4-FFF2-40B4-BE49-F238E27FC236}">
                <a16:creationId xmlns:a16="http://schemas.microsoft.com/office/drawing/2014/main" id="{D5EDE71A-DFAF-A38F-99D1-ACEEECAD1362}"/>
              </a:ext>
            </a:extLst>
          </p:cNvPr>
          <p:cNvSpPr txBox="1"/>
          <p:nvPr/>
        </p:nvSpPr>
        <p:spPr>
          <a:xfrm>
            <a:off x="98504" y="3013501"/>
            <a:ext cx="6203794" cy="923330"/>
          </a:xfrm>
          <a:prstGeom prst="rect">
            <a:avLst/>
          </a:prstGeom>
          <a:noFill/>
        </p:spPr>
        <p:txBody>
          <a:bodyPr wrap="square">
            <a:spAutoFit/>
          </a:bodyPr>
          <a:lstStyle/>
          <a:p>
            <a:r>
              <a:rPr lang="zh-CN" altLang="zh-CN" sz="1800" b="0" i="0" spc="21" dirty="0">
                <a:solidFill>
                  <a:schemeClr val="tx1"/>
                </a:solidFill>
                <a:effectLst/>
                <a:latin typeface="华文仿宋" panose="02010600040101010101" pitchFamily="2" charset="-122"/>
                <a:ea typeface="华文仿宋" panose="02010600040101010101" pitchFamily="2" charset="-122"/>
              </a:rPr>
              <a:t>有时需要从多个不同的头文件中选择一个引用到程序中。例如，需要指定在不同的操作系统上使用的配置参数。您可以通过一系列条件来实现这点</a:t>
            </a:r>
            <a:endParaRPr lang="zh-CN" altLang="en-US" dirty="0">
              <a:latin typeface="华文仿宋" panose="02010600040101010101" pitchFamily="2" charset="-122"/>
              <a:ea typeface="华文仿宋" panose="02010600040101010101" pitchFamily="2" charset="-122"/>
            </a:endParaRPr>
          </a:p>
        </p:txBody>
      </p:sp>
      <p:pic>
        <p:nvPicPr>
          <p:cNvPr id="11" name="图片 10">
            <a:extLst>
              <a:ext uri="{FF2B5EF4-FFF2-40B4-BE49-F238E27FC236}">
                <a16:creationId xmlns:a16="http://schemas.microsoft.com/office/drawing/2014/main" id="{0F68C497-D29F-DA02-966A-A832E12D2E4F}"/>
              </a:ext>
            </a:extLst>
          </p:cNvPr>
          <p:cNvPicPr>
            <a:picLocks noChangeAspect="1"/>
          </p:cNvPicPr>
          <p:nvPr/>
        </p:nvPicPr>
        <p:blipFill>
          <a:blip r:embed="rId3"/>
          <a:stretch>
            <a:fillRect/>
          </a:stretch>
        </p:blipFill>
        <p:spPr>
          <a:xfrm>
            <a:off x="209134" y="4066653"/>
            <a:ext cx="2991267" cy="2029108"/>
          </a:xfrm>
          <a:prstGeom prst="rect">
            <a:avLst/>
          </a:prstGeom>
        </p:spPr>
      </p:pic>
      <p:sp>
        <p:nvSpPr>
          <p:cNvPr id="13" name="文本框 12">
            <a:extLst>
              <a:ext uri="{FF2B5EF4-FFF2-40B4-BE49-F238E27FC236}">
                <a16:creationId xmlns:a16="http://schemas.microsoft.com/office/drawing/2014/main" id="{41006F19-9E27-0C7D-A8C6-5A67310BAD5F}"/>
              </a:ext>
            </a:extLst>
          </p:cNvPr>
          <p:cNvSpPr txBox="1"/>
          <p:nvPr/>
        </p:nvSpPr>
        <p:spPr>
          <a:xfrm>
            <a:off x="4246757" y="5336230"/>
            <a:ext cx="6203794" cy="1477328"/>
          </a:xfrm>
          <a:prstGeom prst="rect">
            <a:avLst/>
          </a:prstGeom>
          <a:noFill/>
        </p:spPr>
        <p:txBody>
          <a:bodyPr wrap="square">
            <a:spAutoFit/>
          </a:bodyPr>
          <a:lstStyle/>
          <a:p>
            <a:pPr marL="0" marR="0" indent="0" algn="l">
              <a:spcBef>
                <a:spcPts val="1200"/>
              </a:spcBef>
              <a:buNone/>
            </a:pPr>
            <a:r>
              <a:rPr lang="zh-CN" altLang="zh-CN" sz="1800" b="1" i="0" dirty="0">
                <a:solidFill>
                  <a:schemeClr val="tx1"/>
                </a:solidFill>
                <a:effectLst/>
                <a:latin typeface="华文仿宋" panose="02010600040101010101" pitchFamily="2" charset="-122"/>
                <a:ea typeface="华文仿宋" panose="02010600040101010101" pitchFamily="2" charset="-122"/>
              </a:rPr>
              <a:t>数组是“一块连续内存”，指针是“一个地址值”，结构体是“把不同类型打包成的一个新类型”。数组名在大多数场合会退化成指针，但它俩并不等价。</a:t>
            </a:r>
            <a:endParaRPr lang="zh-CN" altLang="zh-CN" sz="1800" b="0" i="0" dirty="0">
              <a:solidFill>
                <a:schemeClr val="tx1"/>
              </a:solidFill>
              <a:effectLst/>
              <a:latin typeface="华文仿宋" panose="02010600040101010101" pitchFamily="2" charset="-122"/>
              <a:ea typeface="华文仿宋" panose="02010600040101010101" pitchFamily="2" charset="-122"/>
            </a:endParaRPr>
          </a:p>
          <a:p>
            <a:pPr>
              <a:buNone/>
            </a:pPr>
            <a:br>
              <a:rPr lang="zh-CN" altLang="zh-CN" dirty="0"/>
            </a:br>
            <a:endParaRPr lang="zh-CN" altLang="en-US" dirty="0"/>
          </a:p>
        </p:txBody>
      </p:sp>
    </p:spTree>
    <p:extLst>
      <p:ext uri="{BB962C8B-B14F-4D97-AF65-F5344CB8AC3E}">
        <p14:creationId xmlns:p14="http://schemas.microsoft.com/office/powerpoint/2010/main" val="48787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6CF1B-6B86-B69A-15F5-E1C82171A3CE}"/>
              </a:ext>
            </a:extLst>
          </p:cNvPr>
          <p:cNvSpPr>
            <a:spLocks noGrp="1"/>
          </p:cNvSpPr>
          <p:nvPr>
            <p:ph type="title"/>
          </p:nvPr>
        </p:nvSpPr>
        <p:spPr>
          <a:xfrm>
            <a:off x="0" y="0"/>
            <a:ext cx="10515600" cy="1325563"/>
          </a:xfrm>
        </p:spPr>
        <p:txBody>
          <a:bodyPr>
            <a:normAutofit/>
          </a:bodyPr>
          <a:lstStyle/>
          <a:p>
            <a:r>
              <a:rPr lang="zh-CN" altLang="en-US" sz="4000" dirty="0">
                <a:latin typeface="华文仿宋" panose="02010600040101010101" pitchFamily="2" charset="-122"/>
                <a:ea typeface="华文仿宋" panose="02010600040101010101" pitchFamily="2" charset="-122"/>
              </a:rPr>
              <a:t>数组</a:t>
            </a:r>
          </a:p>
        </p:txBody>
      </p:sp>
      <p:sp>
        <p:nvSpPr>
          <p:cNvPr id="5" name="文本框 4">
            <a:extLst>
              <a:ext uri="{FF2B5EF4-FFF2-40B4-BE49-F238E27FC236}">
                <a16:creationId xmlns:a16="http://schemas.microsoft.com/office/drawing/2014/main" id="{6D7DD8CA-F845-584C-7919-B443DD9B79BF}"/>
              </a:ext>
            </a:extLst>
          </p:cNvPr>
          <p:cNvSpPr txBox="1"/>
          <p:nvPr/>
        </p:nvSpPr>
        <p:spPr>
          <a:xfrm>
            <a:off x="73819" y="1055730"/>
            <a:ext cx="9575006" cy="1200329"/>
          </a:xfrm>
          <a:prstGeom prst="rect">
            <a:avLst/>
          </a:prstGeom>
          <a:noFill/>
        </p:spPr>
        <p:txBody>
          <a:bodyPr wrap="square">
            <a:spAutoFit/>
          </a:bodyPr>
          <a:lstStyle/>
          <a:p>
            <a:r>
              <a:rPr lang="zh-CN" altLang="en-US" sz="1800" b="0" i="0" spc="21" dirty="0">
                <a:solidFill>
                  <a:schemeClr val="tx1"/>
                </a:solidFill>
                <a:effectLst/>
                <a:latin typeface="华文仿宋" panose="02010600040101010101" pitchFamily="2" charset="-122"/>
                <a:ea typeface="华文仿宋" panose="02010600040101010101" pitchFamily="2" charset="-122"/>
              </a:rPr>
              <a:t>定义：</a:t>
            </a:r>
            <a:r>
              <a:rPr lang="zh-CN" altLang="zh-CN" sz="1800" b="0" i="0" spc="21" dirty="0">
                <a:solidFill>
                  <a:schemeClr val="tx1"/>
                </a:solidFill>
                <a:effectLst/>
                <a:latin typeface="华文仿宋" panose="02010600040101010101" pitchFamily="2" charset="-122"/>
                <a:ea typeface="华文仿宋" panose="02010600040101010101" pitchFamily="2" charset="-122"/>
              </a:rPr>
              <a:t>存储一个固定大小的相同类型元素的顺序集合</a:t>
            </a:r>
            <a:endParaRPr lang="en-US" altLang="zh-CN" sz="1800" b="0" i="0" spc="21" dirty="0">
              <a:solidFill>
                <a:schemeClr val="tx1"/>
              </a:solidFill>
              <a:effectLst/>
              <a:latin typeface="华文仿宋" panose="02010600040101010101" pitchFamily="2" charset="-122"/>
              <a:ea typeface="华文仿宋" panose="02010600040101010101" pitchFamily="2" charset="-122"/>
            </a:endParaRPr>
          </a:p>
          <a:p>
            <a:r>
              <a:rPr lang="zh-CN" altLang="en-US" spc="21" dirty="0">
                <a:latin typeface="华文仿宋" panose="02010600040101010101" pitchFamily="2" charset="-122"/>
                <a:ea typeface="华文仿宋" panose="02010600040101010101" pitchFamily="2" charset="-122"/>
              </a:rPr>
              <a:t>特点：内存是连续的</a:t>
            </a:r>
            <a:endParaRPr lang="en-US" altLang="zh-CN" spc="21" dirty="0">
              <a:latin typeface="华文仿宋" panose="02010600040101010101" pitchFamily="2" charset="-122"/>
              <a:ea typeface="华文仿宋" panose="02010600040101010101" pitchFamily="2" charset="-122"/>
            </a:endParaRPr>
          </a:p>
          <a:p>
            <a:r>
              <a:rPr lang="zh-CN" altLang="zh-CN" dirty="0">
                <a:latin typeface="华文仿宋" panose="02010600040101010101" pitchFamily="2" charset="-122"/>
                <a:ea typeface="华文仿宋" panose="02010600040101010101" pitchFamily="2" charset="-122"/>
              </a:rPr>
              <a:t>数组名表示数组的地址，即数组首元素的地址。当我们在声明和定义一个数组时，该数组名就代表着该数组的地址</a:t>
            </a:r>
            <a:endParaRPr lang="zh-CN" altLang="en-US" dirty="0">
              <a:latin typeface="华文仿宋" panose="02010600040101010101" pitchFamily="2" charset="-122"/>
              <a:ea typeface="华文仿宋" panose="02010600040101010101" pitchFamily="2" charset="-122"/>
            </a:endParaRPr>
          </a:p>
        </p:txBody>
      </p:sp>
      <p:pic>
        <p:nvPicPr>
          <p:cNvPr id="7" name="图片 6">
            <a:extLst>
              <a:ext uri="{FF2B5EF4-FFF2-40B4-BE49-F238E27FC236}">
                <a16:creationId xmlns:a16="http://schemas.microsoft.com/office/drawing/2014/main" id="{C74B6A22-5C10-B504-1A7B-A0C337002E80}"/>
              </a:ext>
            </a:extLst>
          </p:cNvPr>
          <p:cNvPicPr>
            <a:picLocks noChangeAspect="1"/>
          </p:cNvPicPr>
          <p:nvPr/>
        </p:nvPicPr>
        <p:blipFill>
          <a:blip r:embed="rId2"/>
          <a:stretch>
            <a:fillRect/>
          </a:stretch>
        </p:blipFill>
        <p:spPr>
          <a:xfrm>
            <a:off x="6638722" y="149486"/>
            <a:ext cx="3950697" cy="1325563"/>
          </a:xfrm>
          <a:prstGeom prst="rect">
            <a:avLst/>
          </a:prstGeom>
        </p:spPr>
      </p:pic>
      <p:sp>
        <p:nvSpPr>
          <p:cNvPr id="9" name="文本框 8">
            <a:extLst>
              <a:ext uri="{FF2B5EF4-FFF2-40B4-BE49-F238E27FC236}">
                <a16:creationId xmlns:a16="http://schemas.microsoft.com/office/drawing/2014/main" id="{D784A41F-8380-A369-71A1-6FD595123B76}"/>
              </a:ext>
            </a:extLst>
          </p:cNvPr>
          <p:cNvSpPr txBox="1"/>
          <p:nvPr/>
        </p:nvSpPr>
        <p:spPr>
          <a:xfrm>
            <a:off x="73819" y="2256059"/>
            <a:ext cx="6205536" cy="646331"/>
          </a:xfrm>
          <a:prstGeom prst="rect">
            <a:avLst/>
          </a:prstGeom>
          <a:noFill/>
        </p:spPr>
        <p:txBody>
          <a:bodyPr wrap="square">
            <a:spAutoFit/>
          </a:bodyPr>
          <a:lstStyle/>
          <a:p>
            <a:r>
              <a:rPr lang="zh-CN" altLang="en-US" b="1" dirty="0">
                <a:latin typeface="华文仿宋" panose="02010600040101010101" pitchFamily="2" charset="-122"/>
                <a:ea typeface="华文仿宋" panose="02010600040101010101" pitchFamily="2" charset="-122"/>
              </a:rPr>
              <a:t>int myArray[5] = {10, 20, 30, 40, 50};</a:t>
            </a:r>
          </a:p>
          <a:p>
            <a:r>
              <a:rPr lang="zh-CN" altLang="en-US" b="1" dirty="0">
                <a:latin typeface="华文仿宋" panose="02010600040101010101" pitchFamily="2" charset="-122"/>
                <a:ea typeface="华文仿宋" panose="02010600040101010101" pitchFamily="2" charset="-122"/>
              </a:rPr>
              <a:t>int *ptr = &amp;myArray[0]; // 或者直接写作 int *ptr = myArray;</a:t>
            </a:r>
          </a:p>
        </p:txBody>
      </p:sp>
      <p:sp>
        <p:nvSpPr>
          <p:cNvPr id="11" name="文本框 10">
            <a:extLst>
              <a:ext uri="{FF2B5EF4-FFF2-40B4-BE49-F238E27FC236}">
                <a16:creationId xmlns:a16="http://schemas.microsoft.com/office/drawing/2014/main" id="{EBD232E1-8DDE-0A2B-C4E6-5E68FA629C8D}"/>
              </a:ext>
            </a:extLst>
          </p:cNvPr>
          <p:cNvSpPr txBox="1"/>
          <p:nvPr/>
        </p:nvSpPr>
        <p:spPr>
          <a:xfrm>
            <a:off x="73819" y="3221251"/>
            <a:ext cx="11727656" cy="646331"/>
          </a:xfrm>
          <a:prstGeom prst="rect">
            <a:avLst/>
          </a:prstGeom>
          <a:noFill/>
        </p:spPr>
        <p:txBody>
          <a:bodyPr wrap="square">
            <a:spAutoFit/>
          </a:bodyPr>
          <a:lstStyle/>
          <a:p>
            <a:r>
              <a:rPr lang="zh-CN" altLang="zh-CN" sz="1800" b="0" i="0" spc="21" dirty="0">
                <a:solidFill>
                  <a:schemeClr val="tx1"/>
                </a:solidFill>
                <a:effectLst/>
                <a:latin typeface="华文仿宋" panose="02010600040101010101" pitchFamily="2" charset="-122"/>
                <a:ea typeface="华文仿宋" panose="02010600040101010101" pitchFamily="2" charset="-122"/>
              </a:rPr>
              <a:t>多维数组最简单的形式是二维数组。一个二维数组，在本质上，是一个一维数组的列表。声明一个 x 行 y 列的二维整型数组</a:t>
            </a:r>
            <a:endParaRPr lang="zh-CN" altLang="en-US" dirty="0">
              <a:latin typeface="华文仿宋" panose="02010600040101010101" pitchFamily="2" charset="-122"/>
              <a:ea typeface="华文仿宋" panose="02010600040101010101" pitchFamily="2" charset="-122"/>
            </a:endParaRPr>
          </a:p>
        </p:txBody>
      </p:sp>
      <p:sp>
        <p:nvSpPr>
          <p:cNvPr id="13" name="文本框 12">
            <a:extLst>
              <a:ext uri="{FF2B5EF4-FFF2-40B4-BE49-F238E27FC236}">
                <a16:creationId xmlns:a16="http://schemas.microsoft.com/office/drawing/2014/main" id="{5A26E901-DEA8-B67D-903F-BBA6A983C8EB}"/>
              </a:ext>
            </a:extLst>
          </p:cNvPr>
          <p:cNvSpPr txBox="1"/>
          <p:nvPr/>
        </p:nvSpPr>
        <p:spPr>
          <a:xfrm>
            <a:off x="1416844" y="3498250"/>
            <a:ext cx="6205536" cy="369332"/>
          </a:xfrm>
          <a:prstGeom prst="rect">
            <a:avLst/>
          </a:prstGeom>
          <a:noFill/>
        </p:spPr>
        <p:txBody>
          <a:bodyPr wrap="square">
            <a:spAutoFit/>
          </a:bodyPr>
          <a:lstStyle/>
          <a:p>
            <a:r>
              <a:rPr lang="zh-CN" altLang="en-US" dirty="0">
                <a:solidFill>
                  <a:srgbClr val="FF0000"/>
                </a:solidFill>
                <a:latin typeface="华文仿宋" panose="02010600040101010101" pitchFamily="2" charset="-122"/>
                <a:ea typeface="华文仿宋" panose="02010600040101010101" pitchFamily="2" charset="-122"/>
              </a:rPr>
              <a:t>type arrayName [ x ][ y ];</a:t>
            </a:r>
          </a:p>
        </p:txBody>
      </p:sp>
      <p:pic>
        <p:nvPicPr>
          <p:cNvPr id="15" name="图片 14">
            <a:extLst>
              <a:ext uri="{FF2B5EF4-FFF2-40B4-BE49-F238E27FC236}">
                <a16:creationId xmlns:a16="http://schemas.microsoft.com/office/drawing/2014/main" id="{A4F4A149-A99B-D642-A797-33631163AB99}"/>
              </a:ext>
            </a:extLst>
          </p:cNvPr>
          <p:cNvPicPr>
            <a:picLocks noChangeAspect="1"/>
          </p:cNvPicPr>
          <p:nvPr/>
        </p:nvPicPr>
        <p:blipFill>
          <a:blip r:embed="rId3"/>
          <a:stretch>
            <a:fillRect/>
          </a:stretch>
        </p:blipFill>
        <p:spPr>
          <a:xfrm>
            <a:off x="213873" y="4002261"/>
            <a:ext cx="6296904" cy="1905266"/>
          </a:xfrm>
          <a:prstGeom prst="rect">
            <a:avLst/>
          </a:prstGeom>
        </p:spPr>
      </p:pic>
    </p:spTree>
    <p:extLst>
      <p:ext uri="{BB962C8B-B14F-4D97-AF65-F5344CB8AC3E}">
        <p14:creationId xmlns:p14="http://schemas.microsoft.com/office/powerpoint/2010/main" val="222426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85967F-077E-1CEB-F5FF-9C601EA60E16}"/>
              </a:ext>
            </a:extLst>
          </p:cNvPr>
          <p:cNvSpPr txBox="1"/>
          <p:nvPr/>
        </p:nvSpPr>
        <p:spPr>
          <a:xfrm>
            <a:off x="133350" y="220876"/>
            <a:ext cx="6096000" cy="923330"/>
          </a:xfrm>
          <a:prstGeom prst="rect">
            <a:avLst/>
          </a:prstGeom>
          <a:noFill/>
        </p:spPr>
        <p:txBody>
          <a:bodyPr wrap="square">
            <a:spAutoFit/>
          </a:bodyPr>
          <a:lstStyle/>
          <a:p>
            <a:r>
              <a:rPr lang="zh-CN" altLang="zh-CN" sz="1800" b="0" i="0" spc="21" dirty="0">
                <a:solidFill>
                  <a:schemeClr val="tx1"/>
                </a:solidFill>
                <a:effectLst/>
                <a:latin typeface="华文仿宋" panose="02010600040101010101" pitchFamily="2" charset="-122"/>
                <a:ea typeface="华文仿宋" panose="02010600040101010101" pitchFamily="2" charset="-122"/>
              </a:rPr>
              <a:t>C 语言不允许返回一个完整的数组作为函数的参数。但是，您可以通过指定不带索引的数组名来返回一个指向数组的指针。</a:t>
            </a:r>
            <a:endParaRPr lang="zh-CN" altLang="en-US" dirty="0">
              <a:latin typeface="华文仿宋" panose="02010600040101010101" pitchFamily="2" charset="-122"/>
              <a:ea typeface="华文仿宋" panose="02010600040101010101" pitchFamily="2" charset="-122"/>
            </a:endParaRPr>
          </a:p>
        </p:txBody>
      </p:sp>
      <p:sp>
        <p:nvSpPr>
          <p:cNvPr id="7" name="文本框 6">
            <a:extLst>
              <a:ext uri="{FF2B5EF4-FFF2-40B4-BE49-F238E27FC236}">
                <a16:creationId xmlns:a16="http://schemas.microsoft.com/office/drawing/2014/main" id="{CA4D5827-1CC4-8F58-C16E-3BA2DD831628}"/>
              </a:ext>
            </a:extLst>
          </p:cNvPr>
          <p:cNvSpPr txBox="1"/>
          <p:nvPr/>
        </p:nvSpPr>
        <p:spPr>
          <a:xfrm>
            <a:off x="133350" y="1144206"/>
            <a:ext cx="6096000" cy="1754326"/>
          </a:xfrm>
          <a:prstGeom prst="rect">
            <a:avLst/>
          </a:prstGeom>
          <a:noFill/>
        </p:spPr>
        <p:txBody>
          <a:bodyPr wrap="square">
            <a:spAutoFit/>
          </a:bodyPr>
          <a:lstStyle/>
          <a:p>
            <a:r>
              <a:rPr lang="zh-CN" altLang="en-US" dirty="0"/>
              <a:t>int * myFunction()</a:t>
            </a:r>
          </a:p>
          <a:p>
            <a:r>
              <a:rPr lang="zh-CN" altLang="en-US" dirty="0"/>
              <a:t>{</a:t>
            </a:r>
          </a:p>
          <a:p>
            <a:r>
              <a:rPr lang="zh-CN" altLang="en-US" dirty="0"/>
              <a:t>.</a:t>
            </a:r>
          </a:p>
          <a:p>
            <a:r>
              <a:rPr lang="zh-CN" altLang="en-US" dirty="0"/>
              <a:t>.</a:t>
            </a:r>
          </a:p>
          <a:p>
            <a:r>
              <a:rPr lang="zh-CN" altLang="en-US" dirty="0"/>
              <a:t>.</a:t>
            </a:r>
          </a:p>
          <a:p>
            <a:r>
              <a:rPr lang="zh-CN" altLang="en-US" dirty="0"/>
              <a:t>}</a:t>
            </a:r>
          </a:p>
        </p:txBody>
      </p:sp>
    </p:spTree>
    <p:extLst>
      <p:ext uri="{BB962C8B-B14F-4D97-AF65-F5344CB8AC3E}">
        <p14:creationId xmlns:p14="http://schemas.microsoft.com/office/powerpoint/2010/main" val="2480567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D56252-D4DB-45A2-4E33-544F427111CA}"/>
              </a:ext>
            </a:extLst>
          </p:cNvPr>
          <p:cNvSpPr>
            <a:spLocks noGrp="1"/>
          </p:cNvSpPr>
          <p:nvPr>
            <p:ph type="title"/>
          </p:nvPr>
        </p:nvSpPr>
        <p:spPr>
          <a:xfrm>
            <a:off x="0" y="18255"/>
            <a:ext cx="10515600" cy="1325563"/>
          </a:xfrm>
        </p:spPr>
        <p:txBody>
          <a:bodyPr>
            <a:normAutofit/>
          </a:bodyPr>
          <a:lstStyle/>
          <a:p>
            <a:r>
              <a:rPr lang="zh-CN" altLang="en-US" sz="4000" dirty="0">
                <a:latin typeface="华文仿宋" panose="02010600040101010101" pitchFamily="2" charset="-122"/>
                <a:ea typeface="华文仿宋" panose="02010600040101010101" pitchFamily="2" charset="-122"/>
              </a:rPr>
              <a:t>指针</a:t>
            </a:r>
          </a:p>
        </p:txBody>
      </p:sp>
      <p:sp>
        <p:nvSpPr>
          <p:cNvPr id="5" name="文本框 4">
            <a:extLst>
              <a:ext uri="{FF2B5EF4-FFF2-40B4-BE49-F238E27FC236}">
                <a16:creationId xmlns:a16="http://schemas.microsoft.com/office/drawing/2014/main" id="{8CFA3322-8E4A-805C-1781-585DB15CF964}"/>
              </a:ext>
            </a:extLst>
          </p:cNvPr>
          <p:cNvSpPr txBox="1"/>
          <p:nvPr/>
        </p:nvSpPr>
        <p:spPr>
          <a:xfrm>
            <a:off x="143107" y="1343818"/>
            <a:ext cx="9759175" cy="646331"/>
          </a:xfrm>
          <a:prstGeom prst="rect">
            <a:avLst/>
          </a:prstGeom>
          <a:noFill/>
        </p:spPr>
        <p:txBody>
          <a:bodyPr wrap="square">
            <a:spAutoFit/>
          </a:bodyPr>
          <a:lstStyle/>
          <a:p>
            <a:r>
              <a:rPr lang="zh-CN" altLang="en-US" sz="1800" b="0" i="0" dirty="0">
                <a:solidFill>
                  <a:schemeClr val="tx1"/>
                </a:solidFill>
                <a:effectLst/>
                <a:latin typeface="华文仿宋" panose="02010600040101010101" pitchFamily="2" charset="-122"/>
                <a:ea typeface="华文仿宋" panose="02010600040101010101" pitchFamily="2" charset="-122"/>
              </a:rPr>
              <a:t>定义：</a:t>
            </a:r>
            <a:r>
              <a:rPr lang="zh-CN" altLang="zh-CN" sz="1800" b="0" i="0" dirty="0">
                <a:solidFill>
                  <a:schemeClr val="tx1"/>
                </a:solidFill>
                <a:effectLst/>
                <a:latin typeface="华文仿宋" panose="02010600040101010101" pitchFamily="2" charset="-122"/>
                <a:ea typeface="华文仿宋" panose="02010600040101010101" pitchFamily="2" charset="-122"/>
              </a:rPr>
              <a:t>指针是一个变量，它存的</a:t>
            </a:r>
            <a:r>
              <a:rPr lang="zh-CN" altLang="zh-CN" sz="1800" b="1" i="0" dirty="0">
                <a:solidFill>
                  <a:schemeClr val="tx1"/>
                </a:solidFill>
                <a:effectLst/>
                <a:latin typeface="华文仿宋" panose="02010600040101010101" pitchFamily="2" charset="-122"/>
                <a:ea typeface="华文仿宋" panose="02010600040101010101" pitchFamily="2" charset="-122"/>
              </a:rPr>
              <a:t>不是数据本身，而是数据所在的内存地址</a:t>
            </a:r>
            <a:r>
              <a:rPr lang="zh-CN" altLang="zh-CN" sz="1800" b="0" i="0" dirty="0">
                <a:solidFill>
                  <a:schemeClr val="tx1"/>
                </a:solidFill>
                <a:effectLst/>
                <a:latin typeface="华文仿宋" panose="02010600040101010101" pitchFamily="2" charset="-122"/>
                <a:ea typeface="华文仿宋" panose="02010600040101010101" pitchFamily="2" charset="-122"/>
              </a:rPr>
              <a:t>。</a:t>
            </a:r>
            <a:r>
              <a:rPr lang="en-US" altLang="zh-CN" dirty="0">
                <a:solidFill>
                  <a:srgbClr val="FF0000"/>
                </a:solidFill>
                <a:latin typeface="华文仿宋" panose="02010600040101010101" pitchFamily="2" charset="-122"/>
                <a:ea typeface="华文仿宋" panose="02010600040101010101" pitchFamily="2" charset="-122"/>
              </a:rPr>
              <a:t>type *</a:t>
            </a:r>
            <a:r>
              <a:rPr lang="en-US" altLang="zh-CN" dirty="0" err="1">
                <a:solidFill>
                  <a:srgbClr val="FF0000"/>
                </a:solidFill>
                <a:latin typeface="华文仿宋" panose="02010600040101010101" pitchFamily="2" charset="-122"/>
                <a:ea typeface="华文仿宋" panose="02010600040101010101" pitchFamily="2" charset="-122"/>
              </a:rPr>
              <a:t>var_name</a:t>
            </a:r>
            <a:r>
              <a:rPr lang="en-US" altLang="zh-CN" dirty="0">
                <a:solidFill>
                  <a:srgbClr val="FF0000"/>
                </a:solidFill>
                <a:latin typeface="华文仿宋" panose="02010600040101010101" pitchFamily="2" charset="-122"/>
                <a:ea typeface="华文仿宋" panose="02010600040101010101" pitchFamily="2" charset="-122"/>
              </a:rPr>
              <a:t>;</a:t>
            </a:r>
          </a:p>
          <a:p>
            <a:endParaRPr lang="zh-CN" altLang="en-US" dirty="0">
              <a:latin typeface="华文仿宋" panose="02010600040101010101" pitchFamily="2" charset="-122"/>
              <a:ea typeface="华文仿宋" panose="02010600040101010101" pitchFamily="2" charset="-122"/>
            </a:endParaRPr>
          </a:p>
        </p:txBody>
      </p:sp>
      <p:pic>
        <p:nvPicPr>
          <p:cNvPr id="7" name="图片 6">
            <a:extLst>
              <a:ext uri="{FF2B5EF4-FFF2-40B4-BE49-F238E27FC236}">
                <a16:creationId xmlns:a16="http://schemas.microsoft.com/office/drawing/2014/main" id="{FBEB1414-7D05-EE95-DEC1-4BFF518466E0}"/>
              </a:ext>
            </a:extLst>
          </p:cNvPr>
          <p:cNvPicPr>
            <a:picLocks noChangeAspect="1"/>
          </p:cNvPicPr>
          <p:nvPr/>
        </p:nvPicPr>
        <p:blipFill>
          <a:blip r:embed="rId2"/>
          <a:stretch>
            <a:fillRect/>
          </a:stretch>
        </p:blipFill>
        <p:spPr>
          <a:xfrm>
            <a:off x="179636" y="1778179"/>
            <a:ext cx="4220164" cy="1324160"/>
          </a:xfrm>
          <a:prstGeom prst="rect">
            <a:avLst/>
          </a:prstGeom>
        </p:spPr>
      </p:pic>
      <p:sp>
        <p:nvSpPr>
          <p:cNvPr id="9" name="文本框 8">
            <a:extLst>
              <a:ext uri="{FF2B5EF4-FFF2-40B4-BE49-F238E27FC236}">
                <a16:creationId xmlns:a16="http://schemas.microsoft.com/office/drawing/2014/main" id="{13D9EBB0-06A6-BFE9-999E-E5DDAADDAF4C}"/>
              </a:ext>
            </a:extLst>
          </p:cNvPr>
          <p:cNvSpPr txBox="1"/>
          <p:nvPr/>
        </p:nvSpPr>
        <p:spPr>
          <a:xfrm>
            <a:off x="373566" y="3315712"/>
            <a:ext cx="6203794" cy="2877711"/>
          </a:xfrm>
          <a:prstGeom prst="rect">
            <a:avLst/>
          </a:prstGeom>
          <a:noFill/>
        </p:spPr>
        <p:txBody>
          <a:bodyPr wrap="square">
            <a:spAutoFit/>
          </a:bodyPr>
          <a:lstStyle/>
          <a:p>
            <a:pPr marL="342900" marR="0" lvl="0" indent="-342900" algn="l">
              <a:spcBef>
                <a:spcPts val="120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&amp;x 取地址，*p 解引用（dereference）。</a:t>
            </a:r>
          </a:p>
          <a:p>
            <a:pPr marL="342900" marR="0" lvl="0" indent="-342900" algn="l">
              <a:spcBef>
                <a:spcPts val="450"/>
              </a:spcBef>
              <a:spcAft>
                <a:spcPts val="1200"/>
              </a:spcAft>
              <a:buFont typeface="Arial" panose="020B0604020202020204" pitchFamily="34" charset="0"/>
              <a:buChar char="•"/>
            </a:pPr>
            <a:r>
              <a:rPr lang="zh-CN" altLang="zh-CN" sz="1800" b="1" i="0" dirty="0">
                <a:solidFill>
                  <a:schemeClr val="tx1"/>
                </a:solidFill>
                <a:effectLst/>
                <a:latin typeface="华文仿宋" panose="02010600040101010101" pitchFamily="2" charset="-122"/>
                <a:ea typeface="华文仿宋" panose="02010600040101010101" pitchFamily="2" charset="-122"/>
              </a:rPr>
              <a:t>指针的类型决定了三件事</a:t>
            </a:r>
            <a:r>
              <a:rPr lang="zh-CN" altLang="zh-CN" sz="1800" b="0" i="0" dirty="0">
                <a:solidFill>
                  <a:schemeClr val="tx1"/>
                </a:solidFill>
                <a:effectLst/>
                <a:latin typeface="华文仿宋" panose="02010600040101010101" pitchFamily="2" charset="-122"/>
                <a:ea typeface="华文仿宋" panose="02010600040101010101" pitchFamily="2" charset="-122"/>
              </a:rPr>
              <a:t>：解引用时读几个字节、指针算术一次跨几个字节、编译器如何解释这块内存。</a:t>
            </a:r>
          </a:p>
          <a:p>
            <a:pPr marL="742950" marR="0" lvl="1" indent="-285750" algn="l">
              <a:spcBef>
                <a:spcPts val="30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char *p; p+1 → 地址 +1 字节</a:t>
            </a:r>
          </a:p>
          <a:p>
            <a:pPr marL="742950" marR="0" lvl="1" indent="-285750" algn="l">
              <a:spcBef>
                <a:spcPts val="45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int *p; p+1 → 地址 +4 字节（32 位机上）</a:t>
            </a:r>
          </a:p>
          <a:p>
            <a:pPr marL="342900" marR="0" lvl="0" indent="-342900" algn="l">
              <a:spcBef>
                <a:spcPts val="45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指针本身的长度只和平台有关（32 位 MCU 上都是 4 字节），与指向类型无关</a:t>
            </a:r>
            <a:endParaRPr lang="zh-CN" altLang="zh-CN" sz="1050" b="0" i="0" dirty="0">
              <a:solidFill>
                <a:srgbClr val="D8E5F5"/>
              </a:solidFill>
              <a:effectLst/>
              <a:latin typeface="华文仿宋" panose="02010600040101010101" pitchFamily="2" charset="-122"/>
              <a:ea typeface="华文仿宋" panose="02010600040101010101" pitchFamily="2" charset="-122"/>
            </a:endParaRPr>
          </a:p>
        </p:txBody>
      </p:sp>
      <p:sp>
        <p:nvSpPr>
          <p:cNvPr id="11" name="文本框 10">
            <a:extLst>
              <a:ext uri="{FF2B5EF4-FFF2-40B4-BE49-F238E27FC236}">
                <a16:creationId xmlns:a16="http://schemas.microsoft.com/office/drawing/2014/main" id="{5458D76E-FCCF-0DF2-0010-83D1B9AD1649}"/>
              </a:ext>
            </a:extLst>
          </p:cNvPr>
          <p:cNvSpPr txBox="1"/>
          <p:nvPr/>
        </p:nvSpPr>
        <p:spPr>
          <a:xfrm>
            <a:off x="3897352" y="6004854"/>
            <a:ext cx="6203794" cy="646331"/>
          </a:xfrm>
          <a:prstGeom prst="rect">
            <a:avLst/>
          </a:prstGeom>
          <a:noFill/>
        </p:spPr>
        <p:txBody>
          <a:bodyPr wrap="square">
            <a:spAutoFit/>
          </a:bodyPr>
          <a:lstStyle/>
          <a:p>
            <a:r>
              <a:rPr lang="zh-CN" altLang="zh-CN" b="0" i="0" dirty="0">
                <a:solidFill>
                  <a:srgbClr val="FF0000"/>
                </a:solidFill>
                <a:effectLst/>
                <a:latin typeface="华文仿宋" panose="02010600040101010101" pitchFamily="2" charset="-122"/>
                <a:ea typeface="华文仿宋" panose="02010600040101010101" pitchFamily="2" charset="-122"/>
              </a:rPr>
              <a:t>uint8_t *p</a:t>
            </a:r>
            <a:r>
              <a:rPr lang="zh-CN" altLang="zh-CN" sz="1800" b="0" i="0" dirty="0">
                <a:solidFill>
                  <a:srgbClr val="FF0000"/>
                </a:solidFill>
                <a:effectLst/>
                <a:latin typeface="华文仿宋" panose="02010600040101010101" pitchFamily="2" charset="-122"/>
                <a:ea typeface="华文仿宋" panose="02010600040101010101" pitchFamily="2" charset="-122"/>
              </a:rPr>
              <a:t> 里的 </a:t>
            </a:r>
            <a:r>
              <a:rPr lang="zh-CN" altLang="zh-CN" b="0" i="0" dirty="0">
                <a:solidFill>
                  <a:srgbClr val="FF0000"/>
                </a:solidFill>
                <a:effectLst/>
                <a:latin typeface="华文仿宋" panose="02010600040101010101" pitchFamily="2" charset="-122"/>
                <a:ea typeface="华文仿宋" panose="02010600040101010101" pitchFamily="2" charset="-122"/>
              </a:rPr>
              <a:t>uint8_t</a:t>
            </a:r>
            <a:r>
              <a:rPr lang="zh-CN" altLang="zh-CN" sz="1800" b="0" i="0" dirty="0">
                <a:solidFill>
                  <a:srgbClr val="FF0000"/>
                </a:solidFill>
                <a:effectLst/>
                <a:latin typeface="华文仿宋" panose="02010600040101010101" pitchFamily="2" charset="-122"/>
                <a:ea typeface="华文仿宋" panose="02010600040101010101" pitchFamily="2" charset="-122"/>
              </a:rPr>
              <a:t> 描述的是 </a:t>
            </a:r>
            <a:r>
              <a:rPr lang="zh-CN" altLang="zh-CN" sz="1800" b="1" i="0" dirty="0">
                <a:solidFill>
                  <a:srgbClr val="FF0000"/>
                </a:solidFill>
                <a:effectLst/>
                <a:latin typeface="华文仿宋" panose="02010600040101010101" pitchFamily="2" charset="-122"/>
                <a:ea typeface="华文仿宋" panose="02010600040101010101" pitchFamily="2" charset="-122"/>
              </a:rPr>
              <a:t>p 指向的那个数据</a:t>
            </a:r>
            <a:r>
              <a:rPr lang="zh-CN" altLang="zh-CN" sz="1800" b="0" i="0" dirty="0">
                <a:solidFill>
                  <a:srgbClr val="FF0000"/>
                </a:solidFill>
                <a:effectLst/>
                <a:latin typeface="华文仿宋" panose="02010600040101010101" pitchFamily="2" charset="-122"/>
                <a:ea typeface="华文仿宋" panose="02010600040101010101" pitchFamily="2" charset="-122"/>
              </a:rPr>
              <a:t> 是什么类型，而 </a:t>
            </a:r>
            <a:r>
              <a:rPr lang="zh-CN" altLang="zh-CN" sz="1800" b="1" i="0" dirty="0">
                <a:solidFill>
                  <a:srgbClr val="FF0000"/>
                </a:solidFill>
                <a:effectLst/>
                <a:latin typeface="华文仿宋" panose="02010600040101010101" pitchFamily="2" charset="-122"/>
                <a:ea typeface="华文仿宋" panose="02010600040101010101" pitchFamily="2" charset="-122"/>
              </a:rPr>
              <a:t>p 自己</a:t>
            </a:r>
            <a:r>
              <a:rPr lang="zh-CN" altLang="zh-CN" sz="1800" b="0" i="0" dirty="0">
                <a:solidFill>
                  <a:srgbClr val="FF0000"/>
                </a:solidFill>
                <a:effectLst/>
                <a:latin typeface="华文仿宋" panose="02010600040101010101" pitchFamily="2" charset="-122"/>
                <a:ea typeface="华文仿宋" panose="02010600040101010101" pitchFamily="2" charset="-122"/>
              </a:rPr>
              <a:t> 是一个指针，它的大小由平台决定</a:t>
            </a:r>
            <a:endParaRPr lang="zh-CN" altLang="en-US" dirty="0">
              <a:solidFill>
                <a:srgbClr val="FF0000"/>
              </a:solidFill>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75503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BC04960-5B8A-E4A7-5416-19CC8D8437AB}"/>
              </a:ext>
            </a:extLst>
          </p:cNvPr>
          <p:cNvSpPr txBox="1"/>
          <p:nvPr/>
        </p:nvSpPr>
        <p:spPr>
          <a:xfrm>
            <a:off x="152400" y="234992"/>
            <a:ext cx="6096000" cy="2308324"/>
          </a:xfrm>
          <a:prstGeom prst="rect">
            <a:avLst/>
          </a:prstGeom>
          <a:noFill/>
        </p:spPr>
        <p:txBody>
          <a:bodyPr wrap="square">
            <a:spAutoFit/>
          </a:bodyPr>
          <a:lstStyle/>
          <a:p>
            <a:r>
              <a:rPr lang="zh-CN" altLang="en-US" spc="21" dirty="0">
                <a:latin typeface="华文仿宋" panose="02010600040101010101" pitchFamily="2" charset="-122"/>
                <a:ea typeface="华文仿宋" panose="02010600040101010101" pitchFamily="2" charset="-122"/>
              </a:rPr>
              <a:t>注意：</a:t>
            </a:r>
            <a:endParaRPr lang="en-US" altLang="zh-CN" sz="1800" b="0" i="0" spc="21" dirty="0">
              <a:solidFill>
                <a:schemeClr val="tx1"/>
              </a:solidFill>
              <a:effectLst/>
              <a:latin typeface="华文仿宋" panose="02010600040101010101" pitchFamily="2" charset="-122"/>
              <a:ea typeface="华文仿宋" panose="02010600040101010101" pitchFamily="2" charset="-122"/>
            </a:endParaRPr>
          </a:p>
          <a:p>
            <a:r>
              <a:rPr lang="zh-CN" altLang="zh-CN" sz="1800" b="0" i="0" spc="21" dirty="0">
                <a:solidFill>
                  <a:schemeClr val="tx1"/>
                </a:solidFill>
                <a:effectLst/>
                <a:latin typeface="华文仿宋" panose="02010600040101010101" pitchFamily="2" charset="-122"/>
                <a:ea typeface="华文仿宋" panose="02010600040101010101" pitchFamily="2" charset="-122"/>
              </a:rPr>
              <a:t>递增一个指针意味着让指针指向下一个内存位置</a:t>
            </a:r>
            <a:endParaRPr lang="en-US" altLang="zh-CN" sz="1800" b="0" i="0" spc="21" dirty="0">
              <a:solidFill>
                <a:schemeClr val="tx1"/>
              </a:solidFill>
              <a:effectLst/>
              <a:latin typeface="华文仿宋" panose="02010600040101010101" pitchFamily="2" charset="-122"/>
              <a:ea typeface="华文仿宋" panose="02010600040101010101" pitchFamily="2" charset="-122"/>
            </a:endParaRPr>
          </a:p>
          <a:p>
            <a:r>
              <a:rPr lang="zh-CN" altLang="zh-CN" dirty="0">
                <a:latin typeface="华文仿宋" panose="02010600040101010101" pitchFamily="2" charset="-122"/>
                <a:ea typeface="华文仿宋" panose="02010600040101010101" pitchFamily="2" charset="-122"/>
              </a:rPr>
              <a:t>递减一个指针意味着让指针指向前一个内存位置</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C</a:t>
            </a:r>
            <a:r>
              <a:rPr lang="zh-CN" altLang="en-US" dirty="0">
                <a:latin typeface="华文仿宋" panose="02010600040101010101" pitchFamily="2" charset="-122"/>
                <a:ea typeface="华文仿宋" panose="02010600040101010101" pitchFamily="2" charset="-122"/>
              </a:rPr>
              <a:t>语言中，可以通过</a:t>
            </a:r>
            <a:r>
              <a:rPr lang="zh-CN" altLang="zh-CN" dirty="0">
                <a:latin typeface="华文仿宋" panose="02010600040101010101" pitchFamily="2" charset="-122"/>
                <a:ea typeface="华文仿宋" panose="02010600040101010101" pitchFamily="2" charset="-122"/>
              </a:rPr>
              <a:t>比较指针来确定它们的关系。</a:t>
            </a:r>
            <a:endParaRPr lang="en-US" altLang="zh-CN" dirty="0">
              <a:latin typeface="华文仿宋" panose="02010600040101010101" pitchFamily="2" charset="-122"/>
              <a:ea typeface="华文仿宋" panose="02010600040101010101" pitchFamily="2" charset="-122"/>
            </a:endParaRPr>
          </a:p>
          <a:p>
            <a:r>
              <a:rPr lang="zh-CN" altLang="zh-CN" dirty="0">
                <a:latin typeface="华文仿宋" panose="02010600040101010101" pitchFamily="2" charset="-122"/>
                <a:ea typeface="华文仿宋" panose="02010600040101010101" pitchFamily="2" charset="-122"/>
              </a:rPr>
              <a:t>指针比较主要用于确定两个指针是否指向相同的内存位置或确定一个指针是否位于另一个指针之前或之后</a:t>
            </a:r>
            <a:endParaRPr lang="en-US" altLang="zh-CN" dirty="0">
              <a:latin typeface="华文仿宋" panose="02010600040101010101" pitchFamily="2" charset="-122"/>
              <a:ea typeface="华文仿宋" panose="02010600040101010101" pitchFamily="2" charset="-122"/>
            </a:endParaRPr>
          </a:p>
          <a:p>
            <a:r>
              <a:rPr lang="zh-CN" altLang="zh-CN" dirty="0">
                <a:latin typeface="华文仿宋" panose="02010600040101010101" pitchFamily="2" charset="-122"/>
                <a:ea typeface="华文仿宋" panose="02010600040101010101" pitchFamily="2" charset="-122"/>
              </a:rPr>
              <a:t>指针可以用关系运算符进行比较</a:t>
            </a:r>
            <a:endParaRPr lang="en-US" altLang="zh-CN" dirty="0">
              <a:latin typeface="华文仿宋" panose="02010600040101010101" pitchFamily="2" charset="-122"/>
              <a:ea typeface="华文仿宋" panose="02010600040101010101" pitchFamily="2" charset="-122"/>
            </a:endParaRPr>
          </a:p>
          <a:p>
            <a:endParaRPr lang="zh-CN" altLang="en-US"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52242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E7072D-ECBD-992C-2E74-7854EEADC71D}"/>
              </a:ext>
            </a:extLst>
          </p:cNvPr>
          <p:cNvSpPr>
            <a:spLocks noGrp="1"/>
          </p:cNvSpPr>
          <p:nvPr>
            <p:ph type="title"/>
          </p:nvPr>
        </p:nvSpPr>
        <p:spPr>
          <a:xfrm>
            <a:off x="0" y="0"/>
            <a:ext cx="10515600" cy="1325563"/>
          </a:xfrm>
        </p:spPr>
        <p:txBody>
          <a:bodyPr>
            <a:normAutofit/>
          </a:bodyPr>
          <a:lstStyle/>
          <a:p>
            <a:r>
              <a:rPr lang="zh-CN" altLang="en-US" sz="4000" dirty="0">
                <a:latin typeface="华文仿宋" panose="02010600040101010101" pitchFamily="2" charset="-122"/>
                <a:ea typeface="华文仿宋" panose="02010600040101010101" pitchFamily="2" charset="-122"/>
              </a:rPr>
              <a:t>结构体</a:t>
            </a:r>
          </a:p>
        </p:txBody>
      </p:sp>
      <p:sp>
        <p:nvSpPr>
          <p:cNvPr id="5" name="文本框 4">
            <a:extLst>
              <a:ext uri="{FF2B5EF4-FFF2-40B4-BE49-F238E27FC236}">
                <a16:creationId xmlns:a16="http://schemas.microsoft.com/office/drawing/2014/main" id="{F8EA1B08-C327-BBB4-B6FF-4541AC947570}"/>
              </a:ext>
            </a:extLst>
          </p:cNvPr>
          <p:cNvSpPr txBox="1"/>
          <p:nvPr/>
        </p:nvSpPr>
        <p:spPr>
          <a:xfrm>
            <a:off x="102394" y="1037022"/>
            <a:ext cx="8203406" cy="2631490"/>
          </a:xfrm>
          <a:prstGeom prst="rect">
            <a:avLst/>
          </a:prstGeom>
          <a:noFill/>
        </p:spPr>
        <p:txBody>
          <a:bodyPr wrap="square">
            <a:spAutoFit/>
          </a:bodyPr>
          <a:lstStyle/>
          <a:p>
            <a:pPr marL="0" marR="0" indent="0" algn="l">
              <a:buNone/>
            </a:pPr>
            <a:r>
              <a:rPr lang="zh-CN" altLang="zh-CN" sz="1800" b="1" dirty="0">
                <a:solidFill>
                  <a:schemeClr val="tx1"/>
                </a:solidFill>
                <a:effectLst/>
                <a:latin typeface="华文仿宋" panose="02010600040101010101" pitchFamily="2" charset="-122"/>
                <a:ea typeface="华文仿宋" panose="02010600040101010101" pitchFamily="2" charset="-122"/>
              </a:rPr>
              <a:t>结构</a:t>
            </a:r>
            <a:r>
              <a:rPr lang="zh-CN" altLang="zh-CN" sz="1800" b="0" dirty="0">
                <a:solidFill>
                  <a:schemeClr val="tx1"/>
                </a:solidFill>
                <a:effectLst/>
                <a:latin typeface="华文仿宋" panose="02010600040101010101" pitchFamily="2" charset="-122"/>
                <a:ea typeface="华文仿宋" panose="02010600040101010101" pitchFamily="2" charset="-122"/>
              </a:rPr>
              <a:t>是 C 编程中另一种用户自定义的可用的数据类型，它允许您存储不同类型的数据项</a:t>
            </a:r>
          </a:p>
          <a:p>
            <a:pPr marL="0" marR="0" indent="0" algn="l">
              <a:buNone/>
            </a:pPr>
            <a:r>
              <a:rPr lang="zh-CN" altLang="zh-CN" sz="1800" b="0" dirty="0">
                <a:solidFill>
                  <a:schemeClr val="tx1"/>
                </a:solidFill>
                <a:effectLst/>
                <a:latin typeface="华文仿宋" panose="02010600040101010101" pitchFamily="2" charset="-122"/>
                <a:ea typeface="华文仿宋" panose="02010600040101010101" pitchFamily="2" charset="-122"/>
              </a:rPr>
              <a:t>结构体中的数据成员可以是基本数据类型（如 int、float、char 等），也可以是其他结构体类型、指针类型等</a:t>
            </a:r>
            <a:endParaRPr lang="en-US" altLang="zh-CN" sz="1800" b="0" dirty="0">
              <a:solidFill>
                <a:schemeClr val="tx1"/>
              </a:solidFill>
              <a:effectLst/>
              <a:latin typeface="华文仿宋" panose="02010600040101010101" pitchFamily="2" charset="-122"/>
              <a:ea typeface="华文仿宋" panose="02010600040101010101" pitchFamily="2" charset="-122"/>
            </a:endParaRPr>
          </a:p>
          <a:p>
            <a:pPr marL="0" marR="0" indent="0" algn="l">
              <a:buNone/>
            </a:pPr>
            <a:r>
              <a:rPr lang="zh-CN" altLang="en-US" dirty="0">
                <a:latin typeface="华文仿宋" panose="02010600040101010101" pitchFamily="2" charset="-122"/>
                <a:ea typeface="华文仿宋" panose="02010600040101010101" pitchFamily="2" charset="-122"/>
              </a:rPr>
              <a:t>注意：工程惯例，一律使用</a:t>
            </a:r>
            <a:r>
              <a:rPr lang="en-US" altLang="zh-CN" dirty="0">
                <a:latin typeface="华文仿宋" panose="02010600040101010101" pitchFamily="2" charset="-122"/>
                <a:ea typeface="华文仿宋" panose="02010600040101010101" pitchFamily="2" charset="-122"/>
              </a:rPr>
              <a:t>typedef</a:t>
            </a:r>
            <a:r>
              <a:rPr lang="zh-CN" altLang="en-US" dirty="0">
                <a:latin typeface="华文仿宋" panose="02010600040101010101" pitchFamily="2" charset="-122"/>
                <a:ea typeface="华文仿宋" panose="02010600040101010101" pitchFamily="2" charset="-122"/>
              </a:rPr>
              <a:t>省略</a:t>
            </a:r>
            <a:r>
              <a:rPr lang="en-US" altLang="zh-CN" dirty="0">
                <a:latin typeface="华文仿宋" panose="02010600040101010101" pitchFamily="2" charset="-122"/>
                <a:ea typeface="华文仿宋" panose="02010600040101010101" pitchFamily="2" charset="-122"/>
              </a:rPr>
              <a:t>struct</a:t>
            </a:r>
            <a:r>
              <a:rPr lang="zh-CN" altLang="en-US" dirty="0">
                <a:latin typeface="华文仿宋" panose="02010600040101010101" pitchFamily="2" charset="-122"/>
                <a:ea typeface="华文仿宋" panose="02010600040101010101" pitchFamily="2" charset="-122"/>
              </a:rPr>
              <a:t>关键字</a:t>
            </a:r>
            <a:endParaRPr lang="en-US" altLang="zh-CN" dirty="0">
              <a:latin typeface="华文仿宋" panose="02010600040101010101" pitchFamily="2" charset="-122"/>
              <a:ea typeface="华文仿宋" panose="02010600040101010101" pitchFamily="2" charset="-122"/>
            </a:endParaRPr>
          </a:p>
          <a:p>
            <a:pPr marL="0" marR="0" indent="0" algn="l">
              <a:buNone/>
            </a:pPr>
            <a:endParaRPr lang="en-US" altLang="zh-CN" sz="1050" b="0" dirty="0">
              <a:solidFill>
                <a:srgbClr val="333333"/>
              </a:solidFill>
              <a:effectLst/>
              <a:latin typeface="华文仿宋" panose="02010600040101010101" pitchFamily="2" charset="-122"/>
              <a:ea typeface="华文仿宋" panose="02010600040101010101" pitchFamily="2" charset="-122"/>
            </a:endParaRPr>
          </a:p>
          <a:p>
            <a:r>
              <a:rPr lang="zh-CN" altLang="zh-CN" b="1" dirty="0">
                <a:latin typeface="华文仿宋" panose="02010600040101010101" pitchFamily="2" charset="-122"/>
                <a:ea typeface="华文仿宋" panose="02010600040101010101" pitchFamily="2" charset="-122"/>
              </a:rPr>
              <a:t>内存布局与对齐</a:t>
            </a:r>
            <a:endParaRPr lang="en-US" altLang="zh-CN" b="1" dirty="0">
              <a:latin typeface="华文仿宋" panose="02010600040101010101" pitchFamily="2" charset="-122"/>
              <a:ea typeface="华文仿宋" panose="02010600040101010101" pitchFamily="2" charset="-122"/>
            </a:endParaRPr>
          </a:p>
          <a:p>
            <a:r>
              <a:rPr lang="zh-CN" altLang="zh-CN" dirty="0">
                <a:latin typeface="华文仿宋" panose="02010600040101010101" pitchFamily="2" charset="-122"/>
                <a:ea typeface="华文仿宋" panose="02010600040101010101" pitchFamily="2" charset="-122"/>
              </a:rPr>
              <a:t>结构体大小</a:t>
            </a:r>
            <a:r>
              <a:rPr lang="zh-CN" altLang="zh-CN" b="1" dirty="0">
                <a:latin typeface="华文仿宋" panose="02010600040101010101" pitchFamily="2" charset="-122"/>
                <a:ea typeface="华文仿宋" panose="02010600040101010101" pitchFamily="2" charset="-122"/>
              </a:rPr>
              <a:t>不等于</a:t>
            </a:r>
            <a:r>
              <a:rPr lang="zh-CN" altLang="zh-CN" dirty="0">
                <a:latin typeface="华文仿宋" panose="02010600040101010101" pitchFamily="2" charset="-122"/>
                <a:ea typeface="华文仿宋" panose="02010600040101010101" pitchFamily="2" charset="-122"/>
              </a:rPr>
              <a:t>成员大小之和，因为编译器会插入</a:t>
            </a:r>
            <a:r>
              <a:rPr lang="zh-CN" altLang="zh-CN" b="1" dirty="0">
                <a:latin typeface="华文仿宋" panose="02010600040101010101" pitchFamily="2" charset="-122"/>
                <a:ea typeface="华文仿宋" panose="02010600040101010101" pitchFamily="2" charset="-122"/>
              </a:rPr>
              <a:t>填充字节（padding）</a:t>
            </a:r>
            <a:r>
              <a:rPr lang="zh-CN" altLang="zh-CN" dirty="0">
                <a:latin typeface="华文仿宋" panose="02010600040101010101" pitchFamily="2" charset="-122"/>
                <a:ea typeface="华文仿宋" panose="02010600040101010101" pitchFamily="2" charset="-122"/>
              </a:rPr>
              <a:t>保证每个成员按自身对齐要求存放</a:t>
            </a:r>
          </a:p>
          <a:p>
            <a:pPr marL="0" marR="0" indent="0" algn="l">
              <a:buNone/>
            </a:pPr>
            <a:endParaRPr lang="zh-CN" altLang="zh-CN" sz="1050" b="0" dirty="0">
              <a:solidFill>
                <a:srgbClr val="333333"/>
              </a:solidFill>
              <a:effectLst/>
              <a:latin typeface="华文仿宋" panose="02010600040101010101" pitchFamily="2" charset="-122"/>
              <a:ea typeface="华文仿宋" panose="02010600040101010101" pitchFamily="2" charset="-122"/>
            </a:endParaRPr>
          </a:p>
        </p:txBody>
      </p:sp>
      <p:pic>
        <p:nvPicPr>
          <p:cNvPr id="7" name="图片 6">
            <a:extLst>
              <a:ext uri="{FF2B5EF4-FFF2-40B4-BE49-F238E27FC236}">
                <a16:creationId xmlns:a16="http://schemas.microsoft.com/office/drawing/2014/main" id="{72ACADAF-691A-EA04-33AA-041478DA7863}"/>
              </a:ext>
            </a:extLst>
          </p:cNvPr>
          <p:cNvPicPr>
            <a:picLocks noChangeAspect="1"/>
          </p:cNvPicPr>
          <p:nvPr/>
        </p:nvPicPr>
        <p:blipFill>
          <a:blip r:embed="rId2"/>
          <a:stretch>
            <a:fillRect/>
          </a:stretch>
        </p:blipFill>
        <p:spPr>
          <a:xfrm>
            <a:off x="213848" y="3557402"/>
            <a:ext cx="5047639" cy="2014723"/>
          </a:xfrm>
          <a:prstGeom prst="rect">
            <a:avLst/>
          </a:prstGeom>
        </p:spPr>
      </p:pic>
    </p:spTree>
    <p:extLst>
      <p:ext uri="{BB962C8B-B14F-4D97-AF65-F5344CB8AC3E}">
        <p14:creationId xmlns:p14="http://schemas.microsoft.com/office/powerpoint/2010/main" val="3225904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23DBFA7-9C11-8864-5130-CEF78177A460}"/>
              </a:ext>
            </a:extLst>
          </p:cNvPr>
          <p:cNvPicPr>
            <a:picLocks noChangeAspect="1"/>
          </p:cNvPicPr>
          <p:nvPr/>
        </p:nvPicPr>
        <p:blipFill>
          <a:blip r:embed="rId2"/>
          <a:stretch>
            <a:fillRect/>
          </a:stretch>
        </p:blipFill>
        <p:spPr>
          <a:xfrm>
            <a:off x="0" y="0"/>
            <a:ext cx="5544324" cy="2086266"/>
          </a:xfrm>
          <a:prstGeom prst="rect">
            <a:avLst/>
          </a:prstGeom>
        </p:spPr>
      </p:pic>
      <p:sp>
        <p:nvSpPr>
          <p:cNvPr id="7" name="文本框 6">
            <a:extLst>
              <a:ext uri="{FF2B5EF4-FFF2-40B4-BE49-F238E27FC236}">
                <a16:creationId xmlns:a16="http://schemas.microsoft.com/office/drawing/2014/main" id="{DB81F4E0-8EEA-D6D2-3F21-6244AFD4D90B}"/>
              </a:ext>
            </a:extLst>
          </p:cNvPr>
          <p:cNvSpPr txBox="1"/>
          <p:nvPr/>
        </p:nvSpPr>
        <p:spPr>
          <a:xfrm>
            <a:off x="5638800" y="88935"/>
            <a:ext cx="6096000" cy="2190343"/>
          </a:xfrm>
          <a:prstGeom prst="rect">
            <a:avLst/>
          </a:prstGeom>
          <a:noFill/>
        </p:spPr>
        <p:txBody>
          <a:bodyPr wrap="square">
            <a:spAutoFit/>
          </a:bodyPr>
          <a:lstStyle/>
          <a:p>
            <a:pPr marL="342900" marR="0" lvl="0" indent="-342900" algn="l">
              <a:spcBef>
                <a:spcPts val="120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结构体</a:t>
            </a:r>
            <a:r>
              <a:rPr lang="zh-CN" altLang="zh-CN" sz="1800" b="1" i="0" dirty="0">
                <a:solidFill>
                  <a:schemeClr val="tx1"/>
                </a:solidFill>
                <a:effectLst/>
                <a:latin typeface="华文仿宋" panose="02010600040101010101" pitchFamily="2" charset="-122"/>
                <a:ea typeface="华文仿宋" panose="02010600040101010101" pitchFamily="2" charset="-122"/>
              </a:rPr>
              <a:t>可以</a:t>
            </a:r>
            <a:r>
              <a:rPr lang="zh-CN" altLang="zh-CN" sz="1800" b="0" i="0" dirty="0">
                <a:solidFill>
                  <a:schemeClr val="tx1"/>
                </a:solidFill>
                <a:effectLst/>
                <a:latin typeface="华文仿宋" panose="02010600040101010101" pitchFamily="2" charset="-122"/>
                <a:ea typeface="华文仿宋" panose="02010600040101010101" pitchFamily="2" charset="-122"/>
              </a:rPr>
              <a:t>直接 = 赋值、可以作为返回值、可以作为参数按值传递。</a:t>
            </a:r>
          </a:p>
          <a:p>
            <a:pPr marL="342900" marR="0" lvl="0" indent="-342900" algn="l">
              <a:spcBef>
                <a:spcPts val="45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但</a:t>
            </a:r>
            <a:r>
              <a:rPr lang="zh-CN" altLang="zh-CN" sz="1800" b="1" i="0" dirty="0">
                <a:solidFill>
                  <a:schemeClr val="tx1"/>
                </a:solidFill>
                <a:effectLst/>
                <a:latin typeface="华文仿宋" panose="02010600040101010101" pitchFamily="2" charset="-122"/>
                <a:ea typeface="华文仿宋" panose="02010600040101010101" pitchFamily="2" charset="-122"/>
              </a:rPr>
              <a:t>数组不是左值</a:t>
            </a:r>
            <a:r>
              <a:rPr lang="zh-CN" altLang="zh-CN" sz="1800" b="0" i="0" dirty="0">
                <a:solidFill>
                  <a:schemeClr val="tx1"/>
                </a:solidFill>
                <a:effectLst/>
                <a:latin typeface="华文仿宋" panose="02010600040101010101" pitchFamily="2" charset="-122"/>
                <a:ea typeface="华文仿宋" panose="02010600040101010101" pitchFamily="2" charset="-122"/>
              </a:rPr>
              <a:t>：如果结构体成员里有数组，m1.buf = m2.buf; 非法，必须 memcpy。</a:t>
            </a:r>
          </a:p>
          <a:p>
            <a:pPr marL="342900" marR="0" lvl="0" indent="-342900" algn="l">
              <a:spcBef>
                <a:spcPts val="450"/>
              </a:spcBef>
              <a:spcAft>
                <a:spcPts val="1200"/>
              </a:spcAft>
              <a:buFont typeface="Arial" panose="020B0604020202020204" pitchFamily="34" charset="0"/>
              <a:buChar char="•"/>
            </a:pPr>
            <a:r>
              <a:rPr lang="zh-CN" altLang="zh-CN" sz="1800" b="0" i="0" dirty="0">
                <a:solidFill>
                  <a:schemeClr val="tx1"/>
                </a:solidFill>
                <a:effectLst/>
                <a:latin typeface="华文仿宋" panose="02010600040101010101" pitchFamily="2" charset="-122"/>
                <a:ea typeface="华文仿宋" panose="02010600040101010101" pitchFamily="2" charset="-122"/>
              </a:rPr>
              <a:t>成员里有指针时，复制的是指针</a:t>
            </a:r>
            <a:r>
              <a:rPr lang="zh-CN" altLang="zh-CN" sz="1800" b="1" i="0" dirty="0">
                <a:solidFill>
                  <a:schemeClr val="tx1"/>
                </a:solidFill>
                <a:effectLst/>
                <a:latin typeface="华文仿宋" panose="02010600040101010101" pitchFamily="2" charset="-122"/>
                <a:ea typeface="华文仿宋" panose="02010600040101010101" pitchFamily="2" charset="-122"/>
              </a:rPr>
              <a:t>地址</a:t>
            </a:r>
            <a:r>
              <a:rPr lang="zh-CN" altLang="zh-CN" sz="1800" b="0" i="0" dirty="0">
                <a:solidFill>
                  <a:schemeClr val="tx1"/>
                </a:solidFill>
                <a:effectLst/>
                <a:latin typeface="华文仿宋" panose="02010600040101010101" pitchFamily="2" charset="-122"/>
                <a:ea typeface="华文仿宋" panose="02010600040101010101" pitchFamily="2" charset="-122"/>
              </a:rPr>
              <a:t>（浅拷贝），两个结构体指向同一块内存 —— 要深拷贝得自己处理</a:t>
            </a:r>
            <a:endParaRPr lang="zh-CN" altLang="zh-CN" sz="1050" b="0" i="0" dirty="0">
              <a:solidFill>
                <a:srgbClr val="D8E5F5"/>
              </a:solidFill>
              <a:effectLst/>
              <a:latin typeface="华文仿宋" panose="02010600040101010101" pitchFamily="2" charset="-122"/>
              <a:ea typeface="华文仿宋" panose="02010600040101010101" pitchFamily="2" charset="-122"/>
            </a:endParaRPr>
          </a:p>
        </p:txBody>
      </p:sp>
      <p:pic>
        <p:nvPicPr>
          <p:cNvPr id="9" name="图片 8">
            <a:extLst>
              <a:ext uri="{FF2B5EF4-FFF2-40B4-BE49-F238E27FC236}">
                <a16:creationId xmlns:a16="http://schemas.microsoft.com/office/drawing/2014/main" id="{C54124D6-7CB3-BF87-7DD8-3252BD03CFF0}"/>
              </a:ext>
            </a:extLst>
          </p:cNvPr>
          <p:cNvPicPr>
            <a:picLocks noChangeAspect="1"/>
          </p:cNvPicPr>
          <p:nvPr/>
        </p:nvPicPr>
        <p:blipFill>
          <a:blip r:embed="rId3"/>
          <a:stretch>
            <a:fillRect/>
          </a:stretch>
        </p:blipFill>
        <p:spPr>
          <a:xfrm>
            <a:off x="0" y="2738332"/>
            <a:ext cx="7802064" cy="1514686"/>
          </a:xfrm>
          <a:prstGeom prst="rect">
            <a:avLst/>
          </a:prstGeom>
        </p:spPr>
      </p:pic>
      <p:sp>
        <p:nvSpPr>
          <p:cNvPr id="11" name="文本框 10">
            <a:extLst>
              <a:ext uri="{FF2B5EF4-FFF2-40B4-BE49-F238E27FC236}">
                <a16:creationId xmlns:a16="http://schemas.microsoft.com/office/drawing/2014/main" id="{ED119671-EFA8-E3E2-B149-305FFFB09804}"/>
              </a:ext>
            </a:extLst>
          </p:cNvPr>
          <p:cNvSpPr txBox="1"/>
          <p:nvPr/>
        </p:nvSpPr>
        <p:spPr>
          <a:xfrm>
            <a:off x="152400" y="4712072"/>
            <a:ext cx="6096000" cy="923330"/>
          </a:xfrm>
          <a:prstGeom prst="rect">
            <a:avLst/>
          </a:prstGeom>
          <a:noFill/>
        </p:spPr>
        <p:txBody>
          <a:bodyPr wrap="square">
            <a:spAutoFit/>
          </a:bodyPr>
          <a:lstStyle/>
          <a:p>
            <a:r>
              <a:rPr lang="zh-CN" altLang="zh-CN" sz="1800" b="0" i="0" spc="21" dirty="0">
                <a:solidFill>
                  <a:schemeClr val="tx1"/>
                </a:solidFill>
                <a:effectLst/>
                <a:latin typeface="华文仿宋" panose="02010600040101010101" pitchFamily="2" charset="-122"/>
                <a:ea typeface="华文仿宋" panose="02010600040101010101" pitchFamily="2" charset="-122"/>
              </a:rPr>
              <a:t>定义指向结构的指针</a:t>
            </a:r>
            <a:r>
              <a:rPr lang="zh-CN" altLang="en-US" sz="1800" b="0" i="0" spc="21" dirty="0">
                <a:solidFill>
                  <a:schemeClr val="tx1"/>
                </a:solidFill>
                <a:effectLst/>
                <a:latin typeface="华文仿宋" panose="02010600040101010101" pitchFamily="2" charset="-122"/>
                <a:ea typeface="华文仿宋" panose="02010600040101010101" pitchFamily="2" charset="-122"/>
              </a:rPr>
              <a:t>：</a:t>
            </a:r>
            <a:r>
              <a:rPr lang="en-US" altLang="zh-CN" spc="21" dirty="0">
                <a:latin typeface="华文仿宋" panose="02010600040101010101" pitchFamily="2" charset="-122"/>
                <a:ea typeface="华文仿宋" panose="02010600040101010101" pitchFamily="2" charset="-122"/>
              </a:rPr>
              <a:t> struct Books *</a:t>
            </a:r>
            <a:r>
              <a:rPr lang="en-US" altLang="zh-CN" spc="21" dirty="0" err="1">
                <a:latin typeface="华文仿宋" panose="02010600040101010101" pitchFamily="2" charset="-122"/>
                <a:ea typeface="华文仿宋" panose="02010600040101010101" pitchFamily="2" charset="-122"/>
              </a:rPr>
              <a:t>struct_pointer</a:t>
            </a:r>
            <a:r>
              <a:rPr lang="en-US" altLang="zh-CN" spc="21" dirty="0">
                <a:latin typeface="华文仿宋" panose="02010600040101010101" pitchFamily="2" charset="-122"/>
                <a:ea typeface="华文仿宋" panose="02010600040101010101" pitchFamily="2" charset="-122"/>
              </a:rPr>
              <a:t>;</a:t>
            </a:r>
          </a:p>
          <a:p>
            <a:r>
              <a:rPr lang="zh-CN" altLang="en-US" spc="21" dirty="0">
                <a:latin typeface="华文仿宋" panose="02010600040101010101" pitchFamily="2" charset="-122"/>
                <a:ea typeface="华文仿宋" panose="02010600040101010101" pitchFamily="2" charset="-122"/>
              </a:rPr>
              <a:t>使用：</a:t>
            </a:r>
            <a:r>
              <a:rPr lang="en-US" altLang="zh-CN" spc="21" dirty="0">
                <a:latin typeface="华文仿宋" panose="02010600040101010101" pitchFamily="2" charset="-122"/>
                <a:ea typeface="华文仿宋" panose="02010600040101010101" pitchFamily="2" charset="-122"/>
              </a:rPr>
              <a:t> </a:t>
            </a:r>
            <a:r>
              <a:rPr lang="en-US" altLang="zh-CN" spc="21" dirty="0" err="1">
                <a:latin typeface="华文仿宋" panose="02010600040101010101" pitchFamily="2" charset="-122"/>
                <a:ea typeface="华文仿宋" panose="02010600040101010101" pitchFamily="2" charset="-122"/>
              </a:rPr>
              <a:t>struct_pointer</a:t>
            </a:r>
            <a:r>
              <a:rPr lang="en-US" altLang="zh-CN" spc="21" dirty="0">
                <a:latin typeface="华文仿宋" panose="02010600040101010101" pitchFamily="2" charset="-122"/>
                <a:ea typeface="华文仿宋" panose="02010600040101010101" pitchFamily="2" charset="-122"/>
              </a:rPr>
              <a:t> = &amp;Book1;</a:t>
            </a:r>
          </a:p>
          <a:p>
            <a:r>
              <a:rPr lang="en-US" altLang="zh-CN" spc="21" dirty="0">
                <a:latin typeface="华文仿宋" panose="02010600040101010101" pitchFamily="2" charset="-122"/>
                <a:ea typeface="华文仿宋" panose="02010600040101010101" pitchFamily="2" charset="-122"/>
              </a:rPr>
              <a:t>	 </a:t>
            </a:r>
            <a:r>
              <a:rPr lang="en-US" altLang="zh-CN" spc="21" dirty="0" err="1">
                <a:latin typeface="华文仿宋" panose="02010600040101010101" pitchFamily="2" charset="-122"/>
                <a:ea typeface="华文仿宋" panose="02010600040101010101" pitchFamily="2" charset="-122"/>
              </a:rPr>
              <a:t>struct_pointer</a:t>
            </a:r>
            <a:r>
              <a:rPr lang="en-US" altLang="zh-CN" spc="21" dirty="0">
                <a:latin typeface="华文仿宋" panose="02010600040101010101" pitchFamily="2" charset="-122"/>
                <a:ea typeface="华文仿宋" panose="02010600040101010101" pitchFamily="2" charset="-122"/>
              </a:rPr>
              <a:t>-&gt;title;</a:t>
            </a:r>
            <a:endParaRPr lang="zh-CN" altLang="en-US" dirty="0">
              <a:latin typeface="华文仿宋" panose="02010600040101010101" pitchFamily="2" charset="-122"/>
              <a:ea typeface="华文仿宋" panose="02010600040101010101" pitchFamily="2" charset="-122"/>
            </a:endParaRPr>
          </a:p>
        </p:txBody>
      </p:sp>
      <p:sp>
        <p:nvSpPr>
          <p:cNvPr id="12" name="文本框 11">
            <a:extLst>
              <a:ext uri="{FF2B5EF4-FFF2-40B4-BE49-F238E27FC236}">
                <a16:creationId xmlns:a16="http://schemas.microsoft.com/office/drawing/2014/main" id="{68137C4E-D367-4EA0-7904-B03368A62FDB}"/>
              </a:ext>
            </a:extLst>
          </p:cNvPr>
          <p:cNvSpPr txBox="1"/>
          <p:nvPr/>
        </p:nvSpPr>
        <p:spPr>
          <a:xfrm>
            <a:off x="6515100" y="4905084"/>
            <a:ext cx="3238500" cy="369332"/>
          </a:xfrm>
          <a:prstGeom prst="rect">
            <a:avLst/>
          </a:prstGeom>
          <a:noFill/>
        </p:spPr>
        <p:txBody>
          <a:bodyPr wrap="square" rtlCol="0">
            <a:spAutoFit/>
          </a:bodyPr>
          <a:lstStyle/>
          <a:p>
            <a:r>
              <a:rPr lang="zh-CN" altLang="en-US" dirty="0"/>
              <a:t>结构体使用：代码</a:t>
            </a:r>
          </a:p>
        </p:txBody>
      </p:sp>
    </p:spTree>
    <p:extLst>
      <p:ext uri="{BB962C8B-B14F-4D97-AF65-F5344CB8AC3E}">
        <p14:creationId xmlns:p14="http://schemas.microsoft.com/office/powerpoint/2010/main" val="373494840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1923</Words>
  <Application>Microsoft Office PowerPoint</Application>
  <PresentationFormat>宽屏</PresentationFormat>
  <Paragraphs>94</Paragraphs>
  <Slides>10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等线</vt:lpstr>
      <vt:lpstr>等线 Light</vt:lpstr>
      <vt:lpstr>华文仿宋</vt:lpstr>
      <vt:lpstr>Arial</vt:lpstr>
      <vt:lpstr>Times New Roman</vt:lpstr>
      <vt:lpstr>Office 主题​​</vt:lpstr>
      <vt:lpstr>GTIIT-KongFu战队 电控组 C语言培训-4&amp;5</vt:lpstr>
      <vt:lpstr>培训内容</vt:lpstr>
      <vt:lpstr>预处理器</vt:lpstr>
      <vt:lpstr>头文件</vt:lpstr>
      <vt:lpstr>数组</vt:lpstr>
      <vt:lpstr>PowerPoint 演示文稿</vt:lpstr>
      <vt:lpstr>指针</vt:lpstr>
      <vt:lpstr>PowerPoint 演示文稿</vt:lpstr>
      <vt:lpstr>结构体</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C</dc:creator>
  <cp:lastModifiedBy>MD C</cp:lastModifiedBy>
  <cp:revision>5</cp:revision>
  <dcterms:created xsi:type="dcterms:W3CDTF">2026-09-28T14:37:00Z</dcterms:created>
  <dcterms:modified xsi:type="dcterms:W3CDTF">2026-09-28T16:16:09Z</dcterms:modified>
</cp:coreProperties>
</file>